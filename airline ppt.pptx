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9" r:id="rId3"/>
    <p:sldId id="273" r:id="rId4"/>
    <p:sldId id="274" r:id="rId5"/>
    <p:sldId id="279" r:id="rId6"/>
    <p:sldId id="278" r:id="rId7"/>
    <p:sldId id="260" r:id="rId8"/>
    <p:sldId id="261" r:id="rId9"/>
    <p:sldId id="270" r:id="rId10"/>
    <p:sldId id="288" r:id="rId11"/>
    <p:sldId id="277" r:id="rId12"/>
    <p:sldId id="287" r:id="rId13"/>
    <p:sldId id="280" r:id="rId14"/>
    <p:sldId id="281" r:id="rId15"/>
  </p:sldIdLst>
  <p:sldSz cx="14538325" cy="7921625"/>
  <p:notesSz cx="6858000" cy="9144000"/>
  <p:embeddedFontLst>
    <p:embeddedFont>
      <p:font typeface="Libre Baskerville" panose="02000000000000000000" pitchFamily="2" charset="0"/>
      <p:regular r:id="rId17"/>
      <p:bold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uXGo2nYnlF3Yx90SdvQHmczy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25" autoAdjust="0"/>
    <p:restoredTop sz="93305" autoAdjust="0"/>
  </p:normalViewPr>
  <p:slideViewPr>
    <p:cSldViewPr snapToGrid="0">
      <p:cViewPr varScale="1">
        <p:scale>
          <a:sx n="51" d="100"/>
          <a:sy n="51" d="100"/>
        </p:scale>
        <p:origin x="1120" y="48"/>
      </p:cViewPr>
      <p:guideLst>
        <p:guide orient="horz" pos="2160"/>
        <p:guide pos="3840"/>
        <p:guide orient="horz" pos="2593"/>
        <p:guide pos="4579"/>
        <p:guide orient="horz" pos="2079"/>
        <p:guide orient="horz" pos="24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2575" y="685800"/>
            <a:ext cx="62928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282575" y="685800"/>
            <a:ext cx="62928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5" name="Google Shape;4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46" name="Google Shape;46;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b899a59831_0_7:notes"/>
          <p:cNvSpPr>
            <a:spLocks noGrp="1" noRot="1" noChangeAspect="1"/>
          </p:cNvSpPr>
          <p:nvPr>
            <p:ph type="sldImg" idx="2"/>
          </p:nvPr>
        </p:nvSpPr>
        <p:spPr>
          <a:xfrm>
            <a:off x="282575" y="685800"/>
            <a:ext cx="6292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b899a59831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0" name="Google Shape;80;g1b899a59831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b899a59831_0_14:notes"/>
          <p:cNvSpPr>
            <a:spLocks noGrp="1" noRot="1" noChangeAspect="1"/>
          </p:cNvSpPr>
          <p:nvPr>
            <p:ph type="sldImg" idx="2"/>
          </p:nvPr>
        </p:nvSpPr>
        <p:spPr>
          <a:xfrm>
            <a:off x="282575" y="685800"/>
            <a:ext cx="6292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b899a59831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 name="Google Shape;89;g1b899a59831_0_1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b899a59831_0_21:notes"/>
          <p:cNvSpPr>
            <a:spLocks noGrp="1" noRot="1" noChangeAspect="1"/>
          </p:cNvSpPr>
          <p:nvPr>
            <p:ph type="sldImg" idx="2"/>
          </p:nvPr>
        </p:nvSpPr>
        <p:spPr>
          <a:xfrm>
            <a:off x="282575" y="685800"/>
            <a:ext cx="6292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b899a59831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8" name="Google Shape;98;g1b899a59831_0_2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 descr="LOGO.gif"/>
          <p:cNvPicPr preferRelativeResize="0"/>
          <p:nvPr/>
        </p:nvPicPr>
        <p:blipFill rotWithShape="1">
          <a:blip r:embed="rId2">
            <a:alphaModFix/>
          </a:blip>
          <a:srcRect b="10713"/>
          <a:stretch/>
        </p:blipFill>
        <p:spPr>
          <a:xfrm>
            <a:off x="10419137" y="264054"/>
            <a:ext cx="3271123" cy="733484"/>
          </a:xfrm>
          <a:prstGeom prst="rect">
            <a:avLst/>
          </a:prstGeom>
          <a:noFill/>
          <a:ln>
            <a:noFill/>
          </a:ln>
        </p:spPr>
      </p:pic>
      <p:grpSp>
        <p:nvGrpSpPr>
          <p:cNvPr id="26" name="Google Shape;26;p3"/>
          <p:cNvGrpSpPr/>
          <p:nvPr/>
        </p:nvGrpSpPr>
        <p:grpSpPr>
          <a:xfrm>
            <a:off x="9772985" y="1"/>
            <a:ext cx="4765340" cy="1012208"/>
            <a:chOff x="6096000" y="3924300"/>
            <a:chExt cx="2997200" cy="876300"/>
          </a:xfrm>
        </p:grpSpPr>
        <p:sp>
          <p:nvSpPr>
            <p:cNvPr id="27" name="Google Shape;27;p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3"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3" descr="logo.jpg"/>
          <p:cNvPicPr preferRelativeResize="0"/>
          <p:nvPr/>
        </p:nvPicPr>
        <p:blipFill rotWithShape="1">
          <a:blip r:embed="rId3">
            <a:alphaModFix/>
          </a:blip>
          <a:srcRect/>
          <a:stretch/>
        </p:blipFill>
        <p:spPr>
          <a:xfrm>
            <a:off x="10419136" y="264054"/>
            <a:ext cx="3054058" cy="704144"/>
          </a:xfrm>
          <a:prstGeom prst="rect">
            <a:avLst/>
          </a:prstGeom>
          <a:noFill/>
          <a:ln>
            <a:noFill/>
          </a:ln>
        </p:spPr>
      </p:pic>
      <p:sp>
        <p:nvSpPr>
          <p:cNvPr id="31" name="Google Shape;31;p3"/>
          <p:cNvSpPr txBox="1">
            <a:spLocks noGrp="1"/>
          </p:cNvSpPr>
          <p:nvPr>
            <p:ph type="title"/>
          </p:nvPr>
        </p:nvSpPr>
        <p:spPr>
          <a:xfrm>
            <a:off x="0" y="1"/>
            <a:ext cx="10297980" cy="96819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3"/>
          <p:cNvSpPr txBox="1">
            <a:spLocks noGrp="1"/>
          </p:cNvSpPr>
          <p:nvPr>
            <p:ph type="body" idx="1"/>
          </p:nvPr>
        </p:nvSpPr>
        <p:spPr>
          <a:xfrm>
            <a:off x="726919" y="1584330"/>
            <a:ext cx="13084493" cy="5227906"/>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3"/>
          <p:cNvSpPr txBox="1">
            <a:spLocks noGrp="1"/>
          </p:cNvSpPr>
          <p:nvPr>
            <p:ph type="dt" idx="10"/>
          </p:nvPr>
        </p:nvSpPr>
        <p:spPr>
          <a:xfrm>
            <a:off x="726916" y="7342178"/>
            <a:ext cx="3392276" cy="42175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ftr" idx="11"/>
          </p:nvPr>
        </p:nvSpPr>
        <p:spPr>
          <a:xfrm>
            <a:off x="4967264" y="7342178"/>
            <a:ext cx="4603803" cy="42175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sldNum" idx="12"/>
          </p:nvPr>
        </p:nvSpPr>
        <p:spPr>
          <a:xfrm>
            <a:off x="10419133" y="7342178"/>
            <a:ext cx="3392276" cy="42175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4"/>
          <p:cNvSpPr txBox="1">
            <a:spLocks noGrp="1"/>
          </p:cNvSpPr>
          <p:nvPr>
            <p:ph type="ctrTitle"/>
          </p:nvPr>
        </p:nvSpPr>
        <p:spPr>
          <a:xfrm>
            <a:off x="4" y="1"/>
            <a:ext cx="8722995" cy="10562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4"/>
          <p:cNvSpPr txBox="1">
            <a:spLocks noGrp="1"/>
          </p:cNvSpPr>
          <p:nvPr>
            <p:ph type="subTitle" idx="1"/>
          </p:nvPr>
        </p:nvSpPr>
        <p:spPr>
          <a:xfrm>
            <a:off x="848069" y="1584326"/>
            <a:ext cx="12963340" cy="5457119"/>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9" name="Google Shape;39;p4"/>
          <p:cNvSpPr txBox="1">
            <a:spLocks noGrp="1"/>
          </p:cNvSpPr>
          <p:nvPr>
            <p:ph type="dt" idx="10"/>
          </p:nvPr>
        </p:nvSpPr>
        <p:spPr>
          <a:xfrm>
            <a:off x="726916" y="7342178"/>
            <a:ext cx="3392276" cy="42175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967264" y="7342178"/>
            <a:ext cx="4603803" cy="42175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10419133" y="7342178"/>
            <a:ext cx="3392276" cy="42175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0" y="1"/>
            <a:ext cx="10297980" cy="96819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body" idx="1"/>
          </p:nvPr>
        </p:nvSpPr>
        <p:spPr>
          <a:xfrm>
            <a:off x="726919" y="1584330"/>
            <a:ext cx="13084493" cy="5227906"/>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726916" y="7342178"/>
            <a:ext cx="3392276" cy="42175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4967264" y="7342178"/>
            <a:ext cx="4603803" cy="42175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10419133" y="7342178"/>
            <a:ext cx="3392276" cy="42175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
          <p:cNvSpPr/>
          <p:nvPr/>
        </p:nvSpPr>
        <p:spPr>
          <a:xfrm>
            <a:off x="3" y="1"/>
            <a:ext cx="14538325" cy="968199"/>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2"/>
          <p:cNvSpPr/>
          <p:nvPr/>
        </p:nvSpPr>
        <p:spPr>
          <a:xfrm rot="10800000" flipH="1">
            <a:off x="3" y="7745589"/>
            <a:ext cx="14538325" cy="228843"/>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2" descr="LOGO.gif"/>
          <p:cNvPicPr preferRelativeResize="0"/>
          <p:nvPr/>
        </p:nvPicPr>
        <p:blipFill rotWithShape="1">
          <a:blip r:embed="rId4">
            <a:alphaModFix/>
          </a:blip>
          <a:srcRect b="10713"/>
          <a:stretch/>
        </p:blipFill>
        <p:spPr>
          <a:xfrm>
            <a:off x="10419137" y="264054"/>
            <a:ext cx="3271123" cy="733484"/>
          </a:xfrm>
          <a:prstGeom prst="rect">
            <a:avLst/>
          </a:prstGeom>
          <a:noFill/>
          <a:ln>
            <a:noFill/>
          </a:ln>
        </p:spPr>
      </p:pic>
      <p:pic>
        <p:nvPicPr>
          <p:cNvPr id="18" name="Google Shape;18;p2" descr="LOGO.gif"/>
          <p:cNvPicPr preferRelativeResize="0"/>
          <p:nvPr/>
        </p:nvPicPr>
        <p:blipFill rotWithShape="1">
          <a:blip r:embed="rId4">
            <a:alphaModFix/>
          </a:blip>
          <a:srcRect b="10713"/>
          <a:stretch/>
        </p:blipFill>
        <p:spPr>
          <a:xfrm>
            <a:off x="10419137" y="264054"/>
            <a:ext cx="3271123" cy="733484"/>
          </a:xfrm>
          <a:prstGeom prst="rect">
            <a:avLst/>
          </a:prstGeom>
          <a:noFill/>
          <a:ln>
            <a:noFill/>
          </a:ln>
        </p:spPr>
      </p:pic>
      <p:grpSp>
        <p:nvGrpSpPr>
          <p:cNvPr id="19" name="Google Shape;19;p2"/>
          <p:cNvGrpSpPr/>
          <p:nvPr/>
        </p:nvGrpSpPr>
        <p:grpSpPr>
          <a:xfrm>
            <a:off x="9772985" y="1"/>
            <a:ext cx="4765340" cy="1012208"/>
            <a:chOff x="6096000" y="3924300"/>
            <a:chExt cx="2997200" cy="876300"/>
          </a:xfrm>
        </p:grpSpPr>
        <p:sp>
          <p:nvSpPr>
            <p:cNvPr id="20" name="Google Shape;20;p2"/>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2"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2"/>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2" descr="logo.jpg"/>
          <p:cNvPicPr preferRelativeResize="0"/>
          <p:nvPr/>
        </p:nvPicPr>
        <p:blipFill rotWithShape="1">
          <a:blip r:embed="rId5">
            <a:alphaModFix/>
          </a:blip>
          <a:srcRect/>
          <a:stretch/>
        </p:blipFill>
        <p:spPr>
          <a:xfrm>
            <a:off x="10419136" y="264054"/>
            <a:ext cx="3054058" cy="70414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s://www.oneclickitsolution.com/blog/airline-reservation-system"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www.tutorialspoint.com/intellij_idea/intellij_idea_create_first_java_project.htm" TargetMode="External"/><Relationship Id="rId5" Type="http://schemas.openxmlformats.org/officeDocument/2006/relationships/hyperlink" Target="https://www.jetbrains.com/idea-edu/" TargetMode="External"/><Relationship Id="rId4" Type="http://schemas.openxmlformats.org/officeDocument/2006/relationships/hyperlink" Target="https://youtu.be/AHFBPxWebFQ?si=1gpemxiVbB22aXkv"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
        <p:cNvGrpSpPr/>
        <p:nvPr/>
      </p:nvGrpSpPr>
      <p:grpSpPr>
        <a:xfrm>
          <a:off x="0" y="0"/>
          <a:ext cx="0" cy="0"/>
          <a:chOff x="0" y="0"/>
          <a:chExt cx="0" cy="0"/>
        </a:xfrm>
      </p:grpSpPr>
      <p:sp>
        <p:nvSpPr>
          <p:cNvPr id="49" name="Google Shape;49;p1"/>
          <p:cNvSpPr txBox="1"/>
          <p:nvPr/>
        </p:nvSpPr>
        <p:spPr>
          <a:xfrm>
            <a:off x="4611750" y="6771975"/>
            <a:ext cx="6752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50" name="Google Shape;50;p1"/>
          <p:cNvSpPr txBox="1">
            <a:spLocks noGrp="1"/>
          </p:cNvSpPr>
          <p:nvPr>
            <p:ph type="sldNum" idx="12"/>
          </p:nvPr>
        </p:nvSpPr>
        <p:spPr>
          <a:noFill/>
          <a:ln>
            <a:noFill/>
          </a:ln>
        </p:spPr>
        <p:txBody>
          <a:bodyPr spcFirstLastPara="1" wrap="square" lIns="91425" tIns="45700" rIns="91425" bIns="45700" anchor="ctr" anchorCtr="0">
            <a:noAutofit/>
          </a:bodyPr>
          <a:lstStyle/>
          <a:p>
            <a:pPr lvl="0"/>
            <a:fld id="{00000000-1234-1234-1234-123412341234}" type="slidenum">
              <a:rPr lang="en-US"/>
              <a:pPr lvl="0"/>
              <a:t>1</a:t>
            </a:fld>
            <a:endParaRPr lang="en-US"/>
          </a:p>
        </p:txBody>
      </p:sp>
      <p:sp>
        <p:nvSpPr>
          <p:cNvPr id="52" name="Google Shape;52;p1"/>
          <p:cNvSpPr txBox="1"/>
          <p:nvPr/>
        </p:nvSpPr>
        <p:spPr>
          <a:xfrm flipH="1">
            <a:off x="-1522500" y="0"/>
            <a:ext cx="1522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4" name="Google Shape;54;p1"/>
          <p:cNvSpPr txBox="1"/>
          <p:nvPr/>
        </p:nvSpPr>
        <p:spPr>
          <a:xfrm>
            <a:off x="110325" y="6553550"/>
            <a:ext cx="1427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0DF3B33B-B5E6-0D82-1CBF-52B6EF9742C2}"/>
              </a:ext>
            </a:extLst>
          </p:cNvPr>
          <p:cNvSpPr txBox="1"/>
          <p:nvPr/>
        </p:nvSpPr>
        <p:spPr>
          <a:xfrm>
            <a:off x="3323967" y="1421027"/>
            <a:ext cx="7414055" cy="769441"/>
          </a:xfrm>
          <a:prstGeom prst="rect">
            <a:avLst/>
          </a:prstGeom>
          <a:noFill/>
        </p:spPr>
        <p:txBody>
          <a:bodyPr wrap="square" rtlCol="0">
            <a:spAutoFit/>
          </a:bodyPr>
          <a:lstStyle/>
          <a:p>
            <a:pPr marL="0" marR="0" lvl="0" indent="0" algn="ctr" rtl="0">
              <a:spcBef>
                <a:spcPts val="0"/>
              </a:spcBef>
              <a:spcAft>
                <a:spcPts val="0"/>
              </a:spcAft>
              <a:buNone/>
            </a:pPr>
            <a:endParaRPr lang="en-US" sz="4400"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69B24576-D9A5-AB32-B3F6-E39E350CF829}"/>
              </a:ext>
            </a:extLst>
          </p:cNvPr>
          <p:cNvSpPr txBox="1"/>
          <p:nvPr/>
        </p:nvSpPr>
        <p:spPr>
          <a:xfrm>
            <a:off x="1532238" y="6500598"/>
            <a:ext cx="11174359" cy="1261884"/>
          </a:xfrm>
          <a:prstGeom prst="rect">
            <a:avLst/>
          </a:prstGeom>
          <a:noFill/>
        </p:spPr>
        <p:txBody>
          <a:bodyPr wrap="square" rtlCol="0">
            <a:spAutoFit/>
          </a:bodyPr>
          <a:lstStyle/>
          <a:p>
            <a:pPr algn="ctr" rtl="0">
              <a:spcBef>
                <a:spcPts val="0"/>
              </a:spcBef>
              <a:spcAft>
                <a:spcPts val="0"/>
              </a:spcAft>
            </a:pPr>
            <a:r>
              <a:rPr lang="en-US" sz="28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2400" b="1" i="0" u="none" strike="noStrike" dirty="0">
                <a:solidFill>
                  <a:srgbClr val="000000"/>
                </a:solidFill>
                <a:effectLst/>
                <a:latin typeface="Times New Roman" panose="02020603050405020304" pitchFamily="18" charset="0"/>
                <a:cs typeface="Times New Roman" panose="02020603050405020304" pitchFamily="18" charset="0"/>
              </a:rPr>
              <a:t>Department of Computer Science &amp; Engineering</a:t>
            </a:r>
          </a:p>
          <a:p>
            <a:pPr algn="ctr" rtl="0">
              <a:spcBef>
                <a:spcPts val="0"/>
              </a:spcBef>
              <a:spcAft>
                <a:spcPts val="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    Chitkara University, Punjab</a:t>
            </a:r>
            <a:br>
              <a:rPr lang="en-US" sz="2400" dirty="0"/>
            </a:br>
            <a:endParaRPr lang="en-IN" sz="2400" dirty="0"/>
          </a:p>
        </p:txBody>
      </p:sp>
      <p:sp>
        <p:nvSpPr>
          <p:cNvPr id="6" name="TextBox 5">
            <a:extLst>
              <a:ext uri="{FF2B5EF4-FFF2-40B4-BE49-F238E27FC236}">
                <a16:creationId xmlns:a16="http://schemas.microsoft.com/office/drawing/2014/main" id="{094CD3FD-A23F-05CA-083B-92B0E062C315}"/>
              </a:ext>
            </a:extLst>
          </p:cNvPr>
          <p:cNvSpPr txBox="1"/>
          <p:nvPr/>
        </p:nvSpPr>
        <p:spPr>
          <a:xfrm>
            <a:off x="1729946" y="1421027"/>
            <a:ext cx="10787449" cy="1785104"/>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Project Presentation of Exploratory Project (EP)</a:t>
            </a:r>
          </a:p>
          <a:p>
            <a:pPr algn="ctr"/>
            <a:r>
              <a:rPr lang="en-US" sz="2800" b="1" dirty="0">
                <a:latin typeface="Times New Roman" panose="02020603050405020304" pitchFamily="18" charset="0"/>
                <a:cs typeface="Times New Roman" panose="02020603050405020304" pitchFamily="18" charset="0"/>
              </a:rPr>
              <a:t>On</a:t>
            </a:r>
          </a:p>
          <a:p>
            <a:pPr algn="ctr"/>
            <a:r>
              <a:rPr lang="en-US" sz="4000" b="1" dirty="0">
                <a:latin typeface="Times New Roman" panose="02020603050405020304" pitchFamily="18" charset="0"/>
                <a:cs typeface="Times New Roman" panose="02020603050405020304" pitchFamily="18" charset="0"/>
              </a:rPr>
              <a:t>   AIRLINE RESERVATION SYSTEM</a:t>
            </a:r>
          </a:p>
          <a:p>
            <a:endParaRPr lang="en-IN" dirty="0"/>
          </a:p>
        </p:txBody>
      </p:sp>
      <p:sp>
        <p:nvSpPr>
          <p:cNvPr id="9" name="TextBox 8">
            <a:extLst>
              <a:ext uri="{FF2B5EF4-FFF2-40B4-BE49-F238E27FC236}">
                <a16:creationId xmlns:a16="http://schemas.microsoft.com/office/drawing/2014/main" id="{8A895FE4-253C-76EA-7B3D-51F1A34DA7E2}"/>
              </a:ext>
            </a:extLst>
          </p:cNvPr>
          <p:cNvSpPr txBox="1"/>
          <p:nvPr/>
        </p:nvSpPr>
        <p:spPr>
          <a:xfrm>
            <a:off x="3323966" y="3344449"/>
            <a:ext cx="7414055" cy="2523768"/>
          </a:xfrm>
          <a:prstGeom prst="rect">
            <a:avLst/>
          </a:prstGeom>
          <a:noFill/>
        </p:spPr>
        <p:txBody>
          <a:bodyPr wrap="square" rtlCol="0">
            <a:spAutoFit/>
          </a:bodyPr>
          <a:lstStyle/>
          <a:p>
            <a:endParaRPr lang="en-US" dirty="0"/>
          </a:p>
          <a:p>
            <a:pPr algn="just"/>
            <a:r>
              <a:rPr lang="en-US" sz="2000" b="1" dirty="0"/>
              <a:t>                          </a:t>
            </a:r>
            <a:r>
              <a:rPr lang="en-US" sz="2400" dirty="0">
                <a:latin typeface="Times New Roman" panose="02020603050405020304" pitchFamily="18" charset="0"/>
                <a:cs typeface="Times New Roman" panose="02020603050405020304" pitchFamily="18" charset="0"/>
              </a:rPr>
              <a:t>Yashika Taneja(2210990979)</a:t>
            </a:r>
          </a:p>
          <a:p>
            <a:pPr algn="just"/>
            <a:r>
              <a:rPr lang="en-US" sz="2400" dirty="0">
                <a:latin typeface="Times New Roman" panose="02020603050405020304" pitchFamily="18" charset="0"/>
                <a:cs typeface="Times New Roman" panose="02020603050405020304" pitchFamily="18" charset="0"/>
              </a:rPr>
              <a:t>                         Saniya Ahuja(2210990787)</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Upinder</a:t>
            </a:r>
            <a:r>
              <a:rPr lang="en-US" sz="2400" dirty="0">
                <a:latin typeface="Times New Roman" panose="02020603050405020304" pitchFamily="18" charset="0"/>
                <a:cs typeface="Times New Roman" panose="02020603050405020304" pitchFamily="18" charset="0"/>
              </a:rPr>
              <a:t> Kaur(2210990927)</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t>                               </a:t>
            </a:r>
            <a:r>
              <a:rPr lang="en-US" sz="2400" dirty="0">
                <a:latin typeface="Times New Roman" panose="02020603050405020304" pitchFamily="18" charset="0"/>
                <a:cs typeface="Times New Roman" panose="02020603050405020304" pitchFamily="18" charset="0"/>
              </a:rPr>
              <a:t>SUPERVISED BY :</a:t>
            </a:r>
          </a:p>
          <a:p>
            <a:pPr algn="just"/>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Ms.Roshni</a:t>
            </a:r>
            <a:r>
              <a:rPr lang="en-US" sz="2400" b="1" dirty="0">
                <a:latin typeface="Times New Roman" panose="02020603050405020304" pitchFamily="18" charset="0"/>
                <a:cs typeface="Times New Roman" panose="02020603050405020304" pitchFamily="18" charset="0"/>
              </a:rPr>
              <a:t> Mali</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1b899a59831_0_7"/>
          <p:cNvSpPr txBox="1">
            <a:spLocks noGrp="1"/>
          </p:cNvSpPr>
          <p:nvPr>
            <p:ph type="title"/>
          </p:nvPr>
        </p:nvSpPr>
        <p:spPr>
          <a:xfrm>
            <a:off x="0" y="1"/>
            <a:ext cx="10298100" cy="968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IN" sz="7200" b="1" dirty="0">
                <a:solidFill>
                  <a:schemeClr val="bg1"/>
                </a:solidFill>
                <a:latin typeface="Times New Roman" panose="02020603050405020304" pitchFamily="18" charset="0"/>
                <a:cs typeface="Times New Roman" panose="02020603050405020304" pitchFamily="18" charset="0"/>
              </a:rPr>
              <a:t>Introduction</a:t>
            </a:r>
            <a:endParaRPr sz="7200" b="1" dirty="0">
              <a:solidFill>
                <a:schemeClr val="bg1"/>
              </a:solidFill>
              <a:latin typeface="Times New Roman" panose="02020603050405020304" pitchFamily="18" charset="0"/>
              <a:cs typeface="Times New Roman" panose="02020603050405020304" pitchFamily="18" charset="0"/>
            </a:endParaRPr>
          </a:p>
        </p:txBody>
      </p:sp>
      <p:sp>
        <p:nvSpPr>
          <p:cNvPr id="84" name="Google Shape;84;g1b899a59831_0_7"/>
          <p:cNvSpPr txBox="1">
            <a:spLocks noGrp="1"/>
          </p:cNvSpPr>
          <p:nvPr>
            <p:ph type="sldNum" idx="12"/>
          </p:nvPr>
        </p:nvSpPr>
        <p:spPr>
          <a:xfrm>
            <a:off x="10419133" y="7342178"/>
            <a:ext cx="3392400" cy="4218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pic>
        <p:nvPicPr>
          <p:cNvPr id="7" name="Picture 6">
            <a:extLst>
              <a:ext uri="{FF2B5EF4-FFF2-40B4-BE49-F238E27FC236}">
                <a16:creationId xmlns:a16="http://schemas.microsoft.com/office/drawing/2014/main" id="{86230B3C-9B66-EBAD-FED2-27C94D63C596}"/>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29"/>
                    </a14:imgEffect>
                  </a14:imgLayer>
                </a14:imgProps>
              </a:ext>
            </a:extLst>
          </a:blip>
          <a:srcRect l="631" t="29155" r="2101" b="1290"/>
          <a:stretch>
            <a:fillRect/>
          </a:stretch>
        </p:blipFill>
        <p:spPr>
          <a:xfrm>
            <a:off x="0" y="968101"/>
            <a:ext cx="14538325" cy="6795877"/>
          </a:xfrm>
          <a:prstGeom prst="rect">
            <a:avLst/>
          </a:prstGeom>
        </p:spPr>
      </p:pic>
      <p:sp>
        <p:nvSpPr>
          <p:cNvPr id="9" name="TextBox 8">
            <a:extLst>
              <a:ext uri="{FF2B5EF4-FFF2-40B4-BE49-F238E27FC236}">
                <a16:creationId xmlns:a16="http://schemas.microsoft.com/office/drawing/2014/main" id="{6755A733-7081-581D-1C8C-F65FF77A5528}"/>
              </a:ext>
            </a:extLst>
          </p:cNvPr>
          <p:cNvSpPr txBox="1"/>
          <p:nvPr/>
        </p:nvSpPr>
        <p:spPr>
          <a:xfrm>
            <a:off x="622299" y="1460500"/>
            <a:ext cx="9448801" cy="5632311"/>
          </a:xfrm>
          <a:prstGeom prst="rect">
            <a:avLst/>
          </a:prstGeom>
          <a:ln w="38100"/>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n-IN" sz="3600" dirty="0">
                <a:solidFill>
                  <a:srgbClr val="002060"/>
                </a:solidFill>
                <a:latin typeface="Times New Roman" panose="02020603050405020304" pitchFamily="18" charset="0"/>
                <a:cs typeface="Times New Roman" panose="02020603050405020304" pitchFamily="18" charset="0"/>
              </a:rPr>
              <a:t>The Airline Reservation System’s main aim is to provide online ticket and seat reservation </a:t>
            </a:r>
            <a:r>
              <a:rPr lang="en-US" sz="3600" dirty="0">
                <a:solidFill>
                  <a:srgbClr val="002060"/>
                </a:solidFill>
                <a:latin typeface="Times New Roman" panose="02020603050405020304" pitchFamily="18" charset="0"/>
                <a:cs typeface="Times New Roman" panose="02020603050405020304" pitchFamily="18" charset="0"/>
              </a:rPr>
              <a:t>services for national and International Flights, as well as to provide</a:t>
            </a:r>
            <a:r>
              <a:rPr lang="en-IN" sz="3600" dirty="0">
                <a:solidFill>
                  <a:srgbClr val="002060"/>
                </a:solidFill>
                <a:latin typeface="Times New Roman" panose="02020603050405020304" pitchFamily="18" charset="0"/>
                <a:cs typeface="Times New Roman" panose="02020603050405020304" pitchFamily="18" charset="0"/>
              </a:rPr>
              <a:t> information about flight departures. </a:t>
            </a:r>
          </a:p>
          <a:p>
            <a:pPr algn="just"/>
            <a:r>
              <a:rPr lang="en-IN" sz="3600" dirty="0">
                <a:solidFill>
                  <a:srgbClr val="002060"/>
                </a:solidFill>
                <a:latin typeface="Times New Roman" panose="02020603050405020304" pitchFamily="18" charset="0"/>
                <a:cs typeface="Times New Roman" panose="02020603050405020304" pitchFamily="18" charset="0"/>
              </a:rPr>
              <a:t>It helps with flight tickets.</a:t>
            </a:r>
          </a:p>
          <a:p>
            <a:pPr algn="just"/>
            <a:r>
              <a:rPr lang="en-IN" sz="3600" dirty="0">
                <a:solidFill>
                  <a:srgbClr val="002060"/>
                </a:solidFill>
                <a:latin typeface="Times New Roman" panose="02020603050405020304" pitchFamily="18" charset="0"/>
                <a:cs typeface="Times New Roman" panose="02020603050405020304" pitchFamily="18" charset="0"/>
              </a:rPr>
              <a:t>                         This project will also cover adding, deleting or modifying the customer details and flights. In general, this website would be designed to perform like any other airline ticketing website available online.</a:t>
            </a:r>
          </a:p>
        </p:txBody>
      </p:sp>
      <p:pic>
        <p:nvPicPr>
          <p:cNvPr id="14" name="Picture 13">
            <a:extLst>
              <a:ext uri="{FF2B5EF4-FFF2-40B4-BE49-F238E27FC236}">
                <a16:creationId xmlns:a16="http://schemas.microsoft.com/office/drawing/2014/main" id="{58567D46-6246-1010-E075-C7692E95BEB4}"/>
              </a:ext>
            </a:extLst>
          </p:cNvPr>
          <p:cNvPicPr>
            <a:picLocks noChangeAspect="1"/>
          </p:cNvPicPr>
          <p:nvPr/>
        </p:nvPicPr>
        <p:blipFill>
          <a:blip r:embed="rId5"/>
          <a:srcRect l="37450"/>
          <a:stretch>
            <a:fillRect/>
          </a:stretch>
        </p:blipFill>
        <p:spPr>
          <a:xfrm>
            <a:off x="10419133" y="2415490"/>
            <a:ext cx="3798927" cy="30906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884B2B-56C2-6EEB-BDC5-EC4C82E46E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extBox 2">
            <a:extLst>
              <a:ext uri="{FF2B5EF4-FFF2-40B4-BE49-F238E27FC236}">
                <a16:creationId xmlns:a16="http://schemas.microsoft.com/office/drawing/2014/main" id="{04125485-8CEC-A010-744C-54CA2F84A36E}"/>
              </a:ext>
            </a:extLst>
          </p:cNvPr>
          <p:cNvSpPr txBox="1"/>
          <p:nvPr/>
        </p:nvSpPr>
        <p:spPr>
          <a:xfrm>
            <a:off x="513567" y="1202499"/>
            <a:ext cx="13297841" cy="6001643"/>
          </a:xfrm>
          <a:prstGeom prst="rect">
            <a:avLst/>
          </a:prstGeom>
          <a:noFill/>
        </p:spPr>
        <p:txBody>
          <a:bodyPr wrap="square" rtlCol="0">
            <a:spAutoFit/>
          </a:bodyPr>
          <a:lstStyle/>
          <a:p>
            <a:pPr algn="just"/>
            <a:r>
              <a:rPr lang="en-US" sz="2400" b="1" i="0" dirty="0">
                <a:solidFill>
                  <a:srgbClr val="141412"/>
                </a:solidFill>
                <a:effectLst/>
                <a:latin typeface="Times New Roman" panose="02020603050405020304" pitchFamily="18" charset="0"/>
                <a:cs typeface="Times New Roman" panose="02020603050405020304" pitchFamily="18" charset="0"/>
              </a:rPr>
              <a:t>1. To customize the learning sessions as per the requirements</a:t>
            </a:r>
            <a:r>
              <a:rPr lang="en-US" sz="2400" b="1" i="0" dirty="0">
                <a:solidFill>
                  <a:srgbClr val="141412"/>
                </a:solidFill>
                <a:effectLst/>
                <a:latin typeface="Libre Baskerville" panose="02000000000000000000" pitchFamily="2" charset="0"/>
              </a:rPr>
              <a:t>: </a:t>
            </a:r>
            <a:r>
              <a:rPr lang="en-US" sz="2400" b="0" i="0" dirty="0">
                <a:solidFill>
                  <a:srgbClr val="141412"/>
                </a:solidFill>
                <a:effectLst/>
                <a:latin typeface="Times New Roman" panose="02020603050405020304" pitchFamily="18" charset="0"/>
                <a:cs typeface="Times New Roman" panose="02020603050405020304" pitchFamily="18" charset="0"/>
              </a:rPr>
              <a:t>Learning sessions now need not be a redundant process, or rather, the “one size fits all’ concept. It is designed to look after the needs and requirements of each and every learner. Interesting videos, effective images, informative PDF’s and clear audios are some of the elements that are beautifully and carefully blended to craft innovative learning sessions. </a:t>
            </a:r>
          </a:p>
          <a:p>
            <a:pPr marL="514350" indent="-514350" algn="just">
              <a:buAutoNum type="arabicPeriod"/>
            </a:pPr>
            <a:endParaRPr lang="en-US" sz="2400" b="1" i="0" dirty="0">
              <a:solidFill>
                <a:srgbClr val="141412"/>
              </a:solidFill>
              <a:effectLst/>
              <a:latin typeface="Libre Baskerville" panose="02000000000000000000" pitchFamily="2" charset="0"/>
            </a:endParaRPr>
          </a:p>
          <a:p>
            <a:pPr algn="just"/>
            <a:r>
              <a:rPr lang="en-US" sz="2400" b="0" i="0" dirty="0">
                <a:effectLst/>
                <a:latin typeface="Times New Roman" panose="02020603050405020304" pitchFamily="18" charset="0"/>
                <a:cs typeface="Times New Roman" panose="02020603050405020304" pitchFamily="18" charset="0"/>
              </a:rPr>
              <a:t>2. </a:t>
            </a:r>
            <a:r>
              <a:rPr lang="en-US" sz="2400" b="1" i="0" dirty="0">
                <a:solidFill>
                  <a:srgbClr val="141412"/>
                </a:solidFill>
                <a:effectLst/>
                <a:latin typeface="Times New Roman" panose="02020603050405020304" pitchFamily="18" charset="0"/>
                <a:cs typeface="Times New Roman" panose="02020603050405020304" pitchFamily="18" charset="0"/>
              </a:rPr>
              <a:t>To give the privilege of accessing content anytime: </a:t>
            </a:r>
            <a:r>
              <a:rPr lang="en-US" sz="2400" b="0" i="0" dirty="0">
                <a:solidFill>
                  <a:srgbClr val="141412"/>
                </a:solidFill>
                <a:effectLst/>
                <a:latin typeface="Times New Roman" panose="02020603050405020304" pitchFamily="18" charset="0"/>
                <a:cs typeface="Times New Roman" panose="02020603050405020304" pitchFamily="18" charset="0"/>
              </a:rPr>
              <a:t>LMS makes it convenient to give the privilege of accessing the content 24*7. Also, the accessibility of content at any time evades the disadvantage caused by missing classes or lectures.</a:t>
            </a: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3</a:t>
            </a:r>
            <a:r>
              <a:rPr lang="en-US" sz="2400" b="1" i="0" dirty="0">
                <a:effectLst/>
                <a:latin typeface="Times New Roman" panose="02020603050405020304" pitchFamily="18" charset="0"/>
                <a:cs typeface="Times New Roman" panose="02020603050405020304" pitchFamily="18" charset="0"/>
              </a:rPr>
              <a:t>. </a:t>
            </a:r>
            <a:r>
              <a:rPr lang="en-US" sz="2400" b="1" i="0" dirty="0">
                <a:solidFill>
                  <a:srgbClr val="141412"/>
                </a:solidFill>
                <a:effectLst/>
                <a:latin typeface="Times New Roman" panose="02020603050405020304" pitchFamily="18" charset="0"/>
                <a:cs typeface="Times New Roman" panose="02020603050405020304" pitchFamily="18" charset="0"/>
              </a:rPr>
              <a:t>To make the evaluation and feedback an easy process: </a:t>
            </a:r>
            <a:r>
              <a:rPr lang="en-US" sz="2400" b="0" i="0" dirty="0">
                <a:solidFill>
                  <a:srgbClr val="141412"/>
                </a:solidFill>
                <a:effectLst/>
                <a:latin typeface="Times New Roman" panose="02020603050405020304" pitchFamily="18" charset="0"/>
                <a:cs typeface="Times New Roman" panose="02020603050405020304" pitchFamily="18" charset="0"/>
              </a:rPr>
              <a:t>An LMS not only aims to make learning sessions interesting and informative in nature, it also sees to it that how effective these sessions are been. It eases out the evaluation process with reports and feedback sessions.</a:t>
            </a:r>
            <a:endParaRPr lang="en-US" sz="2400" b="1" i="0" dirty="0">
              <a:solidFill>
                <a:srgbClr val="141412"/>
              </a:solidFill>
              <a:effectLst/>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4</a:t>
            </a:r>
            <a:r>
              <a:rPr lang="en-US" sz="2400" b="1" i="0" dirty="0">
                <a:effectLst/>
                <a:latin typeface="Times New Roman" panose="02020603050405020304" pitchFamily="18" charset="0"/>
                <a:cs typeface="Times New Roman" panose="02020603050405020304" pitchFamily="18" charset="0"/>
              </a:rPr>
              <a:t>. </a:t>
            </a:r>
            <a:r>
              <a:rPr lang="en-US" sz="2400" b="1" i="0" dirty="0">
                <a:solidFill>
                  <a:srgbClr val="141412"/>
                </a:solidFill>
                <a:effectLst/>
                <a:latin typeface="Times New Roman" panose="02020603050405020304" pitchFamily="18" charset="0"/>
                <a:cs typeface="Times New Roman" panose="02020603050405020304" pitchFamily="18" charset="0"/>
              </a:rPr>
              <a:t>To considerably save time, energy, and money</a:t>
            </a:r>
            <a:r>
              <a:rPr lang="en-US" sz="2400" b="1" dirty="0">
                <a:solidFill>
                  <a:srgbClr val="141412"/>
                </a:solidFill>
                <a:latin typeface="Times New Roman" panose="02020603050405020304" pitchFamily="18" charset="0"/>
                <a:cs typeface="Times New Roman" panose="02020603050405020304" pitchFamily="18" charset="0"/>
              </a:rPr>
              <a:t>: </a:t>
            </a:r>
            <a:r>
              <a:rPr lang="en-US" sz="2400" dirty="0">
                <a:solidFill>
                  <a:srgbClr val="141412"/>
                </a:solidFill>
                <a:latin typeface="Times New Roman" panose="02020603050405020304" pitchFamily="18" charset="0"/>
                <a:cs typeface="Times New Roman" panose="02020603050405020304" pitchFamily="18" charset="0"/>
              </a:rPr>
              <a:t>W</a:t>
            </a:r>
            <a:r>
              <a:rPr lang="en-US" sz="2400" b="0" i="0" dirty="0">
                <a:solidFill>
                  <a:srgbClr val="141412"/>
                </a:solidFill>
                <a:effectLst/>
                <a:latin typeface="Times New Roman" panose="02020603050405020304" pitchFamily="18" charset="0"/>
                <a:cs typeface="Times New Roman" panose="02020603050405020304" pitchFamily="18" charset="0"/>
              </a:rPr>
              <a:t>hen the learning sessions are available online, the students need not spend money on commuting to and </a:t>
            </a:r>
            <a:r>
              <a:rPr lang="en-US" sz="2400" b="0" i="0" dirty="0" err="1">
                <a:solidFill>
                  <a:srgbClr val="141412"/>
                </a:solidFill>
                <a:effectLst/>
                <a:latin typeface="Times New Roman" panose="02020603050405020304" pitchFamily="18" charset="0"/>
                <a:cs typeface="Times New Roman" panose="02020603050405020304" pitchFamily="18" charset="0"/>
              </a:rPr>
              <a:t>fro</a:t>
            </a:r>
            <a:r>
              <a:rPr lang="en-US" sz="2400" b="0" i="0" dirty="0">
                <a:solidFill>
                  <a:srgbClr val="141412"/>
                </a:solidFill>
                <a:effectLst/>
                <a:latin typeface="Times New Roman" panose="02020603050405020304" pitchFamily="18" charset="0"/>
                <a:cs typeface="Times New Roman" panose="02020603050405020304" pitchFamily="18" charset="0"/>
              </a:rPr>
              <a:t>, saving their time, energy, and money.</a:t>
            </a:r>
            <a:endParaRPr lang="en-US" sz="2400" b="0" i="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1573E3-D79C-0F53-0B42-1B1F669049BE}"/>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631" t="29155" r="2101" b="1290"/>
          <a:stretch>
            <a:fillRect/>
          </a:stretch>
        </p:blipFill>
        <p:spPr>
          <a:xfrm>
            <a:off x="-56156" y="941851"/>
            <a:ext cx="14594482" cy="6822127"/>
          </a:xfrm>
          <a:prstGeom prst="rect">
            <a:avLst/>
          </a:prstGeom>
        </p:spPr>
      </p:pic>
      <p:sp>
        <p:nvSpPr>
          <p:cNvPr id="7" name="Title 6">
            <a:extLst>
              <a:ext uri="{FF2B5EF4-FFF2-40B4-BE49-F238E27FC236}">
                <a16:creationId xmlns:a16="http://schemas.microsoft.com/office/drawing/2014/main" id="{18408416-2EA3-5E5A-711D-3BE6B061D1D4}"/>
              </a:ext>
            </a:extLst>
          </p:cNvPr>
          <p:cNvSpPr>
            <a:spLocks noGrp="1"/>
          </p:cNvSpPr>
          <p:nvPr>
            <p:ph type="ctrTitle"/>
          </p:nvPr>
        </p:nvSpPr>
        <p:spPr>
          <a:xfrm>
            <a:off x="5" y="2"/>
            <a:ext cx="8293096" cy="803814"/>
          </a:xfrm>
        </p:spPr>
        <p:txBody>
          <a:bodyPr/>
          <a:lstStyle/>
          <a:p>
            <a:r>
              <a:rPr lang="en-IN" sz="6600" b="1" dirty="0">
                <a:solidFill>
                  <a:schemeClr val="bg1"/>
                </a:solidFill>
                <a:latin typeface="Times New Roman" panose="02020603050405020304" pitchFamily="18" charset="0"/>
                <a:cs typeface="Times New Roman" panose="02020603050405020304" pitchFamily="18" charset="0"/>
              </a:rPr>
              <a:t>Project Overview</a:t>
            </a:r>
          </a:p>
        </p:txBody>
      </p:sp>
      <p:sp>
        <p:nvSpPr>
          <p:cNvPr id="11" name="TextBox 10">
            <a:extLst>
              <a:ext uri="{FF2B5EF4-FFF2-40B4-BE49-F238E27FC236}">
                <a16:creationId xmlns:a16="http://schemas.microsoft.com/office/drawing/2014/main" id="{2FABE284-DF08-0C5A-5002-71EA059F4CC2}"/>
              </a:ext>
            </a:extLst>
          </p:cNvPr>
          <p:cNvSpPr txBox="1"/>
          <p:nvPr/>
        </p:nvSpPr>
        <p:spPr>
          <a:xfrm>
            <a:off x="513567" y="1422400"/>
            <a:ext cx="12872233" cy="5940088"/>
          </a:xfrm>
          <a:prstGeom prst="rect">
            <a:avLst/>
          </a:prstGeom>
          <a:ln w="38100"/>
        </p:spPr>
        <p:style>
          <a:lnRef idx="1">
            <a:schemeClr val="accent1"/>
          </a:lnRef>
          <a:fillRef idx="2">
            <a:schemeClr val="accent1"/>
          </a:fillRef>
          <a:effectRef idx="1">
            <a:schemeClr val="accent1"/>
          </a:effectRef>
          <a:fontRef idx="minor">
            <a:schemeClr val="dk1"/>
          </a:fontRef>
        </p:style>
        <p:txBody>
          <a:bodyPr wrap="square">
            <a:spAutoFit/>
          </a:bodyPr>
          <a:lstStyle/>
          <a:p>
            <a:pPr lvl="1" algn="just"/>
            <a:r>
              <a:rPr lang="en-US" sz="4400" dirty="0">
                <a:solidFill>
                  <a:srgbClr val="002060"/>
                </a:solidFill>
                <a:latin typeface="Times New Roman" panose="02020603050405020304" pitchFamily="18" charset="0"/>
                <a:ea typeface="Overpass Light" pitchFamily="34" charset="-122"/>
                <a:cs typeface="Times New Roman" panose="02020603050405020304" pitchFamily="18" charset="0"/>
              </a:rPr>
              <a:t>This project demonstrates a comprehensive airline reservation system built entirely with Core Java, showcasing fundamental programming concepts without relying on external frameworks. </a:t>
            </a:r>
          </a:p>
          <a:p>
            <a:pPr lvl="1" algn="just"/>
            <a:r>
              <a:rPr lang="en-US" sz="4400" dirty="0">
                <a:solidFill>
                  <a:srgbClr val="002060"/>
                </a:solidFill>
                <a:latin typeface="Times New Roman" panose="02020603050405020304" pitchFamily="18" charset="0"/>
                <a:ea typeface="Overpass Light" pitchFamily="34" charset="-122"/>
                <a:cs typeface="Times New Roman" panose="02020603050405020304" pitchFamily="18" charset="0"/>
              </a:rPr>
              <a:t>The system leverages JDBC for robust database connectivity, providing a complete solution for managing flight bookings, passenger information, and reservation workflows</a:t>
            </a:r>
            <a:r>
              <a:rPr lang="en-US" sz="4400" dirty="0">
                <a:solidFill>
                  <a:srgbClr val="002060"/>
                </a:solidFill>
                <a:latin typeface="Overpass Light" pitchFamily="34" charset="0"/>
                <a:ea typeface="Overpass Light" pitchFamily="34" charset="-122"/>
                <a:cs typeface="Overpass Light" pitchFamily="34" charset="-120"/>
              </a:rPr>
              <a:t>.</a:t>
            </a:r>
          </a:p>
          <a:p>
            <a:pPr lvl="1" algn="just"/>
            <a:r>
              <a:rPr lang="en-US" dirty="0">
                <a:solidFill>
                  <a:srgbClr val="002060"/>
                </a:solidFill>
                <a:latin typeface="Overpass Light" pitchFamily="34" charset="0"/>
                <a:ea typeface="Overpass Light" pitchFamily="34" charset="-122"/>
              </a:rPr>
              <a:t>       </a:t>
            </a:r>
          </a:p>
          <a:p>
            <a:pPr lvl="1"/>
            <a:endParaRPr lang="en-US" dirty="0">
              <a:solidFill>
                <a:srgbClr val="002060"/>
              </a:solidFill>
            </a:endParaRPr>
          </a:p>
        </p:txBody>
      </p:sp>
    </p:spTree>
    <p:extLst>
      <p:ext uri="{BB962C8B-B14F-4D97-AF65-F5344CB8AC3E}">
        <p14:creationId xmlns:p14="http://schemas.microsoft.com/office/powerpoint/2010/main" val="157897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B403-C515-F0CF-DD9E-C1AFB9A72A8C}"/>
              </a:ext>
            </a:extLst>
          </p:cNvPr>
          <p:cNvSpPr>
            <a:spLocks noGrp="1"/>
          </p:cNvSpPr>
          <p:nvPr>
            <p:ph type="ctrTitle"/>
          </p:nvPr>
        </p:nvSpPr>
        <p:spPr>
          <a:xfrm>
            <a:off x="5" y="2"/>
            <a:ext cx="8585196" cy="968100"/>
          </a:xfrm>
        </p:spPr>
        <p:txBody>
          <a:bodyPr/>
          <a:lstStyle/>
          <a:p>
            <a:r>
              <a:rPr lang="en-US" sz="4800" b="1" dirty="0">
                <a:solidFill>
                  <a:schemeClr val="bg1"/>
                </a:solidFill>
                <a:latin typeface="Times New Roman" panose="02020603050405020304" pitchFamily="18" charset="0"/>
                <a:cs typeface="Times New Roman" panose="02020603050405020304" pitchFamily="18" charset="0"/>
              </a:rPr>
              <a:t>      </a:t>
            </a:r>
            <a:r>
              <a:rPr lang="en-US" sz="6600" b="1" dirty="0">
                <a:solidFill>
                  <a:schemeClr val="bg1"/>
                </a:solidFill>
                <a:latin typeface="Times New Roman" panose="02020603050405020304" pitchFamily="18" charset="0"/>
                <a:cs typeface="Times New Roman" panose="02020603050405020304" pitchFamily="18" charset="0"/>
              </a:rPr>
              <a:t>Problem Statement</a:t>
            </a:r>
            <a:r>
              <a:rPr lang="en-IN" sz="6600" b="1" dirty="0">
                <a:solidFill>
                  <a:schemeClr val="bg1"/>
                </a:solidFill>
                <a:latin typeface="Times New Roman" panose="02020603050405020304" pitchFamily="18" charset="0"/>
                <a:cs typeface="Times New Roman" panose="02020603050405020304" pitchFamily="18" charset="0"/>
              </a:rPr>
              <a:t> </a:t>
            </a:r>
            <a:endParaRPr lang="en-IN" sz="66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A57C62-58D0-A72F-6B4F-061CDD3B41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3" name="TextBox 2">
            <a:extLst>
              <a:ext uri="{FF2B5EF4-FFF2-40B4-BE49-F238E27FC236}">
                <a16:creationId xmlns:a16="http://schemas.microsoft.com/office/drawing/2014/main" id="{E188D984-E2DF-0B57-8697-856EE28FDADD}"/>
              </a:ext>
            </a:extLst>
          </p:cNvPr>
          <p:cNvSpPr txBox="1"/>
          <p:nvPr/>
        </p:nvSpPr>
        <p:spPr>
          <a:xfrm>
            <a:off x="508687" y="1590806"/>
            <a:ext cx="8722995" cy="5275506"/>
          </a:xfrm>
          <a:prstGeom prst="rect">
            <a:avLst/>
          </a:prstGeom>
          <a:noFill/>
        </p:spPr>
        <p:txBody>
          <a:bodyPr wrap="square" rtlCol="0">
            <a:spAutoFit/>
          </a:bodyPr>
          <a:lstStyle/>
          <a:p>
            <a:pPr algn="just">
              <a:buNone/>
            </a:pPr>
            <a:r>
              <a:rPr lang="en-US" sz="2400" b="1" i="0" dirty="0">
                <a:effectLst/>
                <a:latin typeface="Times New Roman" panose="02020603050405020304" pitchFamily="18" charset="0"/>
                <a:cs typeface="Times New Roman" panose="02020603050405020304" pitchFamily="18" charset="0"/>
              </a:rPr>
              <a:t>1. Frontend Technologies:</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React.js: A JavaScript library for building user interfaces, particularly for single-page applications, allowing for dynamic and responsive user experiences.</a:t>
            </a: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2. </a:t>
            </a:r>
            <a:r>
              <a:rPr lang="en-US" sz="2400" b="1" i="0" dirty="0">
                <a:effectLst/>
                <a:latin typeface="Times New Roman" panose="02020603050405020304" pitchFamily="18" charset="0"/>
                <a:cs typeface="Times New Roman" panose="02020603050405020304" pitchFamily="18" charset="0"/>
              </a:rPr>
              <a:t>Backend Technologies:</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Node.js: A JavaScript runtime built on Chrome's V8 engine, enabling server-side scripting and handling asynchronous requests efficiently.</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Express.js: A web application framework for Node.js that simplifies the development of server-side applications and APIs.</a:t>
            </a:r>
          </a:p>
          <a:p>
            <a:pPr algn="just"/>
            <a:endParaRPr lang="en-US" sz="2400" b="0" i="0" dirty="0">
              <a:effectLst/>
              <a:latin typeface="Times New Roman" panose="02020603050405020304" pitchFamily="18" charset="0"/>
              <a:cs typeface="Times New Roman" panose="02020603050405020304" pitchFamily="18" charset="0"/>
            </a:endParaRPr>
          </a:p>
          <a:p>
            <a:pPr algn="just">
              <a:buNone/>
            </a:pPr>
            <a:r>
              <a:rPr lang="en-US" sz="2400" b="0" i="0" dirty="0">
                <a:effectLst/>
                <a:latin typeface="Times New Roman" panose="02020603050405020304" pitchFamily="18" charset="0"/>
                <a:cs typeface="Times New Roman" panose="02020603050405020304" pitchFamily="18" charset="0"/>
              </a:rPr>
              <a:t>3. </a:t>
            </a:r>
            <a:r>
              <a:rPr lang="en-US" sz="2400" b="1" i="0" dirty="0">
                <a:effectLst/>
                <a:latin typeface="Times New Roman" panose="02020603050405020304" pitchFamily="18" charset="0"/>
                <a:cs typeface="Times New Roman" panose="02020603050405020304" pitchFamily="18" charset="0"/>
              </a:rPr>
              <a:t>Database Technologies: MONGODB</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No SQL database for flexible and scalable data storage.</a:t>
            </a:r>
            <a:endParaRPr lang="en-US" sz="2400" i="0" dirty="0">
              <a:effectLst/>
              <a:latin typeface="Times New Roman" panose="02020603050405020304" pitchFamily="18" charset="0"/>
              <a:cs typeface="Times New Roman" panose="02020603050405020304" pitchFamily="18" charset="0"/>
            </a:endParaRPr>
          </a:p>
        </p:txBody>
      </p:sp>
      <p:pic>
        <p:nvPicPr>
          <p:cNvPr id="1028" name="Picture 4" descr="Hire MERN Stack Developer | ARK Infosoft">
            <a:extLst>
              <a:ext uri="{FF2B5EF4-FFF2-40B4-BE49-F238E27FC236}">
                <a16:creationId xmlns:a16="http://schemas.microsoft.com/office/drawing/2014/main" id="{74263CB4-7514-4EF0-3E0D-94D390111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2343" y="2179557"/>
            <a:ext cx="4429125" cy="4438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64E2C0B-C068-5F9E-E5D4-37BCDD1906A0}"/>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rcRect l="631" t="29155" r="2101" b="1290"/>
          <a:stretch>
            <a:fillRect/>
          </a:stretch>
        </p:blipFill>
        <p:spPr>
          <a:xfrm>
            <a:off x="0" y="968101"/>
            <a:ext cx="14538325" cy="6795877"/>
          </a:xfrm>
          <a:prstGeom prst="rect">
            <a:avLst/>
          </a:prstGeom>
        </p:spPr>
      </p:pic>
      <p:sp>
        <p:nvSpPr>
          <p:cNvPr id="6" name="TextBox 5">
            <a:extLst>
              <a:ext uri="{FF2B5EF4-FFF2-40B4-BE49-F238E27FC236}">
                <a16:creationId xmlns:a16="http://schemas.microsoft.com/office/drawing/2014/main" id="{63487636-9CB3-BF74-E5CB-2D6CA6AEF9EF}"/>
              </a:ext>
            </a:extLst>
          </p:cNvPr>
          <p:cNvSpPr txBox="1"/>
          <p:nvPr/>
        </p:nvSpPr>
        <p:spPr>
          <a:xfrm>
            <a:off x="317500" y="1055313"/>
            <a:ext cx="12966701" cy="637365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742950" indent="-742950" algn="just" fontAlgn="auto">
              <a:buFont typeface="+mj-lt"/>
              <a:buAutoNum type="arabicPeriod"/>
            </a:pPr>
            <a:r>
              <a:rPr lang="en-US" sz="4000" dirty="0">
                <a:solidFill>
                  <a:srgbClr val="002060"/>
                </a:solidFill>
                <a:latin typeface="Times New Roman" panose="02020603050405020304" pitchFamily="18" charset="0"/>
                <a:cs typeface="Times New Roman" panose="02020603050405020304" pitchFamily="18" charset="0"/>
              </a:rPr>
              <a:t>Time-consuming, and it requires staff for ticket reservations 24/7.</a:t>
            </a:r>
          </a:p>
          <a:p>
            <a:pPr marL="742950" indent="-742950" algn="just" fontAlgn="auto">
              <a:buFont typeface="+mj-lt"/>
              <a:buAutoNum type="arabicPeriod"/>
            </a:pPr>
            <a:r>
              <a:rPr lang="en-US" sz="4000" dirty="0">
                <a:solidFill>
                  <a:srgbClr val="002060"/>
                </a:solidFill>
                <a:latin typeface="Times New Roman" panose="02020603050405020304" pitchFamily="18" charset="0"/>
                <a:cs typeface="Times New Roman" panose="02020603050405020304" pitchFamily="18" charset="0"/>
              </a:rPr>
              <a:t>Reservations can be made by personally visiting the airport.</a:t>
            </a:r>
          </a:p>
          <a:p>
            <a:pPr marL="742950" indent="-742950" algn="just" fontAlgn="auto">
              <a:buFont typeface="+mj-lt"/>
              <a:buAutoNum type="arabicPeriod"/>
            </a:pPr>
            <a:r>
              <a:rPr lang="en-US" sz="4000" dirty="0">
                <a:solidFill>
                  <a:srgbClr val="002060"/>
                </a:solidFill>
                <a:latin typeface="Times New Roman" panose="02020603050405020304" pitchFamily="18" charset="0"/>
                <a:cs typeface="Times New Roman" panose="02020603050405020304" pitchFamily="18" charset="0"/>
              </a:rPr>
              <a:t>The ticket counter is quite tedious for the customers, and there will be no guarantee of getting tickets for airlines.</a:t>
            </a:r>
          </a:p>
          <a:p>
            <a:pPr marL="742950" indent="-742950" algn="just">
              <a:buFont typeface="+mj-lt"/>
              <a:buAutoNum type="arabicPeriod"/>
            </a:pPr>
            <a:r>
              <a:rPr lang="en-US" sz="4000" dirty="0">
                <a:solidFill>
                  <a:srgbClr val="002060"/>
                </a:solidFill>
                <a:latin typeface="Times New Roman" panose="02020603050405020304" pitchFamily="18" charset="0"/>
                <a:cs typeface="Times New Roman" panose="02020603050405020304" pitchFamily="18" charset="0"/>
              </a:rPr>
              <a:t>Customers can’t compare the ticket prices.</a:t>
            </a:r>
          </a:p>
          <a:p>
            <a:pPr marL="742950" indent="-742950" algn="just">
              <a:buFont typeface="+mj-lt"/>
              <a:buAutoNum type="arabicPeriod"/>
            </a:pPr>
            <a:r>
              <a:rPr lang="en-US" sz="4000" dirty="0">
                <a:solidFill>
                  <a:srgbClr val="002060"/>
                </a:solidFill>
                <a:latin typeface="Times New Roman" panose="02020603050405020304" pitchFamily="18" charset="0"/>
                <a:cs typeface="Times New Roman" panose="02020603050405020304" pitchFamily="18" charset="0"/>
              </a:rPr>
              <a:t>There is a lack of timely notification to passengers in the event of flight cancellations, delays, or other changes, leading to confusion and inconvenience</a:t>
            </a:r>
            <a:r>
              <a:rPr lang="en-US" sz="4000" dirty="0">
                <a:solidFill>
                  <a:srgbClr val="002060"/>
                </a:solidFill>
              </a:rPr>
              <a:t>.</a:t>
            </a:r>
            <a:endParaRPr lang="en-IN" sz="4000" dirty="0">
              <a:solidFill>
                <a:srgbClr val="002060"/>
              </a:solidFill>
            </a:endParaRPr>
          </a:p>
        </p:txBody>
      </p:sp>
    </p:spTree>
    <p:extLst>
      <p:ext uri="{BB962C8B-B14F-4D97-AF65-F5344CB8AC3E}">
        <p14:creationId xmlns:p14="http://schemas.microsoft.com/office/powerpoint/2010/main" val="2122886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5283-B3C9-3F89-85B1-D533A395958F}"/>
              </a:ext>
            </a:extLst>
          </p:cNvPr>
          <p:cNvSpPr>
            <a:spLocks noGrp="1"/>
          </p:cNvSpPr>
          <p:nvPr>
            <p:ph type="ctrTitle"/>
          </p:nvPr>
        </p:nvSpPr>
        <p:spPr>
          <a:xfrm>
            <a:off x="5" y="2"/>
            <a:ext cx="8521696" cy="858384"/>
          </a:xfrm>
        </p:spPr>
        <p:txBody>
          <a:bodyPr/>
          <a:lstStyle/>
          <a:p>
            <a:r>
              <a:rPr lang="en-US" sz="3600" b="1" dirty="0">
                <a:solidFill>
                  <a:schemeClr val="bg1"/>
                </a:solidFill>
                <a:latin typeface="Times New Roman" panose="02020603050405020304" pitchFamily="18" charset="0"/>
                <a:cs typeface="Times New Roman" panose="02020603050405020304" pitchFamily="18" charset="0"/>
              </a:rPr>
              <a:t>  </a:t>
            </a:r>
            <a:r>
              <a:rPr lang="en-US" sz="6600" b="1" dirty="0">
                <a:solidFill>
                  <a:schemeClr val="bg1"/>
                </a:solidFill>
                <a:latin typeface="Times New Roman" panose="02020603050405020304" pitchFamily="18" charset="0"/>
                <a:cs typeface="Times New Roman" panose="02020603050405020304" pitchFamily="18" charset="0"/>
              </a:rPr>
              <a:t>Core Technologies </a:t>
            </a:r>
            <a:endParaRPr lang="en-IN" sz="66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5BE08A2-946E-2A96-89DC-AE97569D33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5" name="Rectangle 1">
            <a:extLst>
              <a:ext uri="{FF2B5EF4-FFF2-40B4-BE49-F238E27FC236}">
                <a16:creationId xmlns:a16="http://schemas.microsoft.com/office/drawing/2014/main" id="{D92E884A-C05E-41B3-1152-8D0E5B279632}"/>
              </a:ext>
            </a:extLst>
          </p:cNvPr>
          <p:cNvSpPr>
            <a:spLocks noGrp="1" noChangeArrowheads="1"/>
          </p:cNvSpPr>
          <p:nvPr>
            <p:ph type="subTitle" idx="1"/>
          </p:nvPr>
        </p:nvSpPr>
        <p:spPr bwMode="auto">
          <a:xfrm>
            <a:off x="526093" y="1495518"/>
            <a:ext cx="6012493" cy="538609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Dependencies (Node.js + Express)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Core Dependencies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 – Web framework for Node.js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mongoose – MongoDB object modeling tool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dotenv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Loads environment variables from .env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Cross-Origin Resource Sharing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nodemon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Auto-restarts server during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Authentication &amp;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bcryptjs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bcrypt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Password hashing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jsonwebtoken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Token-based authentication (JWT)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Additional/Optional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multer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file uploads (PDFs, images,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cookie-parser – Parses cookies if needed for auth/session</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20EC8AE-9133-D65D-FC06-9EFBA523BD47}"/>
              </a:ext>
            </a:extLst>
          </p:cNvPr>
          <p:cNvSpPr txBox="1"/>
          <p:nvPr/>
        </p:nvSpPr>
        <p:spPr>
          <a:xfrm>
            <a:off x="7127309" y="1495517"/>
            <a:ext cx="6450905" cy="538609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wrap="square" rtlCol="0">
            <a:spAutoFit/>
          </a:bodyPr>
          <a:lstStyle/>
          <a:p>
            <a:pPr rtl="0">
              <a:buNone/>
            </a:pPr>
            <a:r>
              <a:rPr lang="en-IN" sz="2400" b="1" dirty="0">
                <a:effectLst/>
                <a:latin typeface="Times New Roman" panose="02020603050405020304" pitchFamily="18" charset="0"/>
                <a:cs typeface="Times New Roman" panose="02020603050405020304" pitchFamily="18" charset="0"/>
              </a:rPr>
              <a:t>Frontend Dependencies (React)</a:t>
            </a:r>
            <a:endParaRPr lang="en-IN" sz="2400" b="1" dirty="0">
              <a:latin typeface="Times New Roman" panose="02020603050405020304" pitchFamily="18" charset="0"/>
              <a:cs typeface="Times New Roman" panose="02020603050405020304" pitchFamily="18" charset="0"/>
            </a:endParaRPr>
          </a:p>
          <a:p>
            <a:pPr rtl="0">
              <a:buNone/>
            </a:pPr>
            <a:endParaRPr lang="en-IN" sz="2000" dirty="0">
              <a:effectLst/>
              <a:latin typeface="Times New Roman" panose="02020603050405020304" pitchFamily="18" charset="0"/>
              <a:cs typeface="Times New Roman" panose="02020603050405020304" pitchFamily="18" charset="0"/>
            </a:endParaRPr>
          </a:p>
          <a:p>
            <a:pPr rtl="0">
              <a:buNone/>
            </a:pPr>
            <a:r>
              <a:rPr lang="en-IN" sz="2000" b="1" dirty="0">
                <a:effectLst/>
                <a:latin typeface="Times New Roman" panose="02020603050405020304" pitchFamily="18" charset="0"/>
                <a:cs typeface="Times New Roman" panose="02020603050405020304" pitchFamily="18" charset="0"/>
              </a:rPr>
              <a:t>Core Dependencies</a:t>
            </a:r>
            <a:endParaRPr lang="en-IN" sz="2000" b="1" dirty="0">
              <a:latin typeface="Times New Roman" panose="02020603050405020304" pitchFamily="18" charset="0"/>
              <a:cs typeface="Times New Roman" panose="02020603050405020304" pitchFamily="18" charset="0"/>
            </a:endParaRPr>
          </a:p>
          <a:p>
            <a:pPr rtl="0">
              <a:buNone/>
            </a:pPr>
            <a:r>
              <a:rPr lang="en-IN" sz="2000" dirty="0">
                <a:effectLst/>
                <a:latin typeface="Times New Roman" panose="02020603050405020304" pitchFamily="18" charset="0"/>
                <a:cs typeface="Times New Roman" panose="02020603050405020304" pitchFamily="18" charset="0"/>
              </a:rPr>
              <a:t>react – JavaScript library for building UI</a:t>
            </a:r>
            <a:endParaRPr lang="en-IN" sz="2000" dirty="0">
              <a:latin typeface="Times New Roman" panose="02020603050405020304" pitchFamily="18" charset="0"/>
              <a:cs typeface="Times New Roman" panose="02020603050405020304" pitchFamily="18" charset="0"/>
            </a:endParaRPr>
          </a:p>
          <a:p>
            <a:pPr rtl="0">
              <a:buNone/>
            </a:pPr>
            <a:r>
              <a:rPr lang="en-IN" sz="2000" dirty="0">
                <a:effectLst/>
                <a:latin typeface="Times New Roman" panose="02020603050405020304" pitchFamily="18" charset="0"/>
                <a:cs typeface="Times New Roman" panose="02020603050405020304" pitchFamily="18" charset="0"/>
              </a:rPr>
              <a:t>react-</a:t>
            </a:r>
            <a:r>
              <a:rPr lang="en-IN" sz="2000" dirty="0" err="1">
                <a:effectLst/>
                <a:latin typeface="Times New Roman" panose="02020603050405020304" pitchFamily="18" charset="0"/>
                <a:cs typeface="Times New Roman" panose="02020603050405020304" pitchFamily="18" charset="0"/>
              </a:rPr>
              <a:t>dom</a:t>
            </a:r>
            <a:r>
              <a:rPr lang="en-IN" sz="2000" dirty="0">
                <a:effectLst/>
                <a:latin typeface="Times New Roman" panose="02020603050405020304" pitchFamily="18" charset="0"/>
                <a:cs typeface="Times New Roman" panose="02020603050405020304" pitchFamily="18" charset="0"/>
              </a:rPr>
              <a:t> – Renders React elements to the DOM</a:t>
            </a:r>
            <a:endParaRPr lang="en-IN" sz="2000" dirty="0">
              <a:latin typeface="Times New Roman" panose="02020603050405020304" pitchFamily="18" charset="0"/>
              <a:cs typeface="Times New Roman" panose="02020603050405020304" pitchFamily="18" charset="0"/>
            </a:endParaRPr>
          </a:p>
          <a:p>
            <a:pPr rtl="0">
              <a:buNone/>
            </a:pPr>
            <a:r>
              <a:rPr lang="en-IN" sz="2000" dirty="0">
                <a:effectLst/>
                <a:latin typeface="Times New Roman" panose="02020603050405020304" pitchFamily="18" charset="0"/>
                <a:cs typeface="Times New Roman" panose="02020603050405020304" pitchFamily="18" charset="0"/>
              </a:rPr>
              <a:t>react-router-</a:t>
            </a:r>
            <a:r>
              <a:rPr lang="en-IN" sz="2000" dirty="0" err="1">
                <a:effectLst/>
                <a:latin typeface="Times New Roman" panose="02020603050405020304" pitchFamily="18" charset="0"/>
                <a:cs typeface="Times New Roman" panose="02020603050405020304" pitchFamily="18" charset="0"/>
              </a:rPr>
              <a:t>dom</a:t>
            </a:r>
            <a:r>
              <a:rPr lang="en-IN" sz="2000" dirty="0">
                <a:effectLst/>
                <a:latin typeface="Times New Roman" panose="02020603050405020304" pitchFamily="18" charset="0"/>
                <a:cs typeface="Times New Roman" panose="02020603050405020304" pitchFamily="18" charset="0"/>
              </a:rPr>
              <a:t> – For client-side routing/navigation</a:t>
            </a:r>
            <a:endParaRPr lang="en-IN" sz="2000" dirty="0">
              <a:latin typeface="Times New Roman" panose="02020603050405020304" pitchFamily="18" charset="0"/>
              <a:cs typeface="Times New Roman" panose="02020603050405020304" pitchFamily="18" charset="0"/>
            </a:endParaRPr>
          </a:p>
          <a:p>
            <a:pPr rtl="0">
              <a:buNone/>
            </a:pPr>
            <a:r>
              <a:rPr lang="en-IN" sz="2000" dirty="0" err="1">
                <a:effectLst/>
                <a:latin typeface="Times New Roman" panose="02020603050405020304" pitchFamily="18" charset="0"/>
                <a:cs typeface="Times New Roman" panose="02020603050405020304" pitchFamily="18" charset="0"/>
              </a:rPr>
              <a:t>axios</a:t>
            </a:r>
            <a:r>
              <a:rPr lang="en-IN" sz="2000" dirty="0">
                <a:effectLst/>
                <a:latin typeface="Times New Roman" panose="02020603050405020304" pitchFamily="18" charset="0"/>
                <a:cs typeface="Times New Roman" panose="02020603050405020304" pitchFamily="18" charset="0"/>
              </a:rPr>
              <a:t> – To make HTTP requests to the backend</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rtl="0">
              <a:buNone/>
            </a:pPr>
            <a:r>
              <a:rPr lang="en-IN" sz="2000" b="1" dirty="0">
                <a:effectLst/>
                <a:latin typeface="Times New Roman" panose="02020603050405020304" pitchFamily="18" charset="0"/>
                <a:cs typeface="Times New Roman" panose="02020603050405020304" pitchFamily="18" charset="0"/>
              </a:rPr>
              <a:t>🔐 Authentication &amp; State Management</a:t>
            </a:r>
            <a:endParaRPr lang="en-IN" sz="2000" b="1" dirty="0">
              <a:latin typeface="Times New Roman" panose="02020603050405020304" pitchFamily="18" charset="0"/>
              <a:cs typeface="Times New Roman" panose="02020603050405020304" pitchFamily="18" charset="0"/>
            </a:endParaRPr>
          </a:p>
          <a:p>
            <a:pPr rtl="0">
              <a:buNone/>
            </a:pPr>
            <a:r>
              <a:rPr lang="en-IN" sz="2000" dirty="0" err="1">
                <a:effectLst/>
                <a:latin typeface="Times New Roman" panose="02020603050405020304" pitchFamily="18" charset="0"/>
                <a:cs typeface="Times New Roman" panose="02020603050405020304" pitchFamily="18" charset="0"/>
              </a:rPr>
              <a:t>jwt</a:t>
            </a:r>
            <a:r>
              <a:rPr lang="en-IN" sz="2000" dirty="0">
                <a:effectLst/>
                <a:latin typeface="Times New Roman" panose="02020603050405020304" pitchFamily="18" charset="0"/>
                <a:cs typeface="Times New Roman" panose="02020603050405020304" pitchFamily="18" charset="0"/>
              </a:rPr>
              <a:t>-decode – To decode and manage JWT tokens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rtl="0">
              <a:buNone/>
            </a:pPr>
            <a:r>
              <a:rPr lang="en-IN" sz="2000" dirty="0">
                <a:effectLst/>
                <a:latin typeface="Times New Roman" panose="02020603050405020304" pitchFamily="18" charset="0"/>
                <a:cs typeface="Times New Roman" panose="02020603050405020304" pitchFamily="18" charset="0"/>
              </a:rPr>
              <a:t>react-context or redux (optional) – For global state management (user auth, course data)</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rtl="0">
              <a:buNone/>
            </a:pPr>
            <a:r>
              <a:rPr lang="en-IN" sz="2000" b="1" dirty="0">
                <a:effectLst/>
                <a:latin typeface="Times New Roman" panose="02020603050405020304" pitchFamily="18" charset="0"/>
                <a:cs typeface="Times New Roman" panose="02020603050405020304" pitchFamily="18" charset="0"/>
              </a:rPr>
              <a:t>Styling &amp; UI</a:t>
            </a:r>
            <a:endParaRPr lang="en-IN" sz="2000" b="1" dirty="0">
              <a:latin typeface="Times New Roman" panose="02020603050405020304" pitchFamily="18" charset="0"/>
              <a:cs typeface="Times New Roman" panose="02020603050405020304" pitchFamily="18" charset="0"/>
            </a:endParaRPr>
          </a:p>
          <a:p>
            <a:pPr rtl="0">
              <a:buNone/>
            </a:pPr>
            <a:r>
              <a:rPr lang="en-IN" sz="2000" dirty="0" err="1">
                <a:effectLst/>
                <a:latin typeface="Times New Roman" panose="02020603050405020304" pitchFamily="18" charset="0"/>
                <a:cs typeface="Times New Roman" panose="02020603050405020304" pitchFamily="18" charset="0"/>
              </a:rPr>
              <a:t>TailwindCSS</a:t>
            </a:r>
            <a:r>
              <a:rPr lang="en-IN" sz="2000" dirty="0">
                <a:effectLst/>
                <a:latin typeface="Times New Roman" panose="02020603050405020304" pitchFamily="18" charset="0"/>
                <a:cs typeface="Times New Roman" panose="02020603050405020304" pitchFamily="18" charset="0"/>
              </a:rPr>
              <a:t> – For styling and responsive layout.</a:t>
            </a:r>
            <a:endParaRPr lang="en-IN" sz="2000" dirty="0">
              <a:latin typeface="Times New Roman" panose="02020603050405020304" pitchFamily="18" charset="0"/>
              <a:cs typeface="Times New Roman" panose="02020603050405020304" pitchFamily="18" charset="0"/>
            </a:endParaRPr>
          </a:p>
          <a:p>
            <a:pPr rtl="0">
              <a:buNone/>
            </a:pPr>
            <a:r>
              <a:rPr lang="en-IN" sz="2000" dirty="0">
                <a:effectLst/>
                <a:latin typeface="Times New Roman" panose="02020603050405020304" pitchFamily="18" charset="0"/>
                <a:cs typeface="Times New Roman" panose="02020603050405020304" pitchFamily="18" charset="0"/>
              </a:rPr>
              <a:t>react-icons – To use icons across the UI</a:t>
            </a:r>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31D8AD5-AB12-3439-2DAF-32928B65DA2D}"/>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631" t="29155" r="2101" b="1290"/>
          <a:stretch>
            <a:fillRect/>
          </a:stretch>
        </p:blipFill>
        <p:spPr>
          <a:xfrm>
            <a:off x="0" y="993153"/>
            <a:ext cx="14538325" cy="6795877"/>
          </a:xfrm>
          <a:prstGeom prst="rect">
            <a:avLst/>
          </a:prstGeom>
        </p:spPr>
      </p:pic>
      <p:sp>
        <p:nvSpPr>
          <p:cNvPr id="8" name="TextBox 7">
            <a:extLst>
              <a:ext uri="{FF2B5EF4-FFF2-40B4-BE49-F238E27FC236}">
                <a16:creationId xmlns:a16="http://schemas.microsoft.com/office/drawing/2014/main" id="{63178F45-D797-0BC3-72DF-84996A6D2C72}"/>
              </a:ext>
            </a:extLst>
          </p:cNvPr>
          <p:cNvSpPr txBox="1"/>
          <p:nvPr/>
        </p:nvSpPr>
        <p:spPr>
          <a:xfrm>
            <a:off x="5499100" y="1257300"/>
            <a:ext cx="8513132" cy="597516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indent="0" algn="just">
              <a:buNone/>
            </a:pPr>
            <a:r>
              <a:rPr lang="en-US" sz="2800" b="1" dirty="0">
                <a:solidFill>
                  <a:srgbClr val="002060"/>
                </a:solidFill>
                <a:latin typeface="Times New Roman" panose="02020603050405020304" pitchFamily="18" charset="0"/>
                <a:ea typeface="Overpass Light" pitchFamily="34" charset="-122"/>
                <a:cs typeface="Times New Roman" panose="02020603050405020304" pitchFamily="18" charset="0"/>
              </a:rPr>
              <a:t>CORE JAVA(8+) </a:t>
            </a:r>
            <a:r>
              <a:rPr lang="en-US" sz="2800" dirty="0">
                <a:solidFill>
                  <a:srgbClr val="002060"/>
                </a:solidFill>
                <a:latin typeface="Times New Roman" panose="02020603050405020304" pitchFamily="18" charset="0"/>
                <a:ea typeface="Overpass Light" pitchFamily="34" charset="-122"/>
                <a:cs typeface="Times New Roman" panose="02020603050405020304" pitchFamily="18" charset="0"/>
              </a:rPr>
              <a:t>: Object-oriented programming, collections framework, exception handling, and multithreading </a:t>
            </a:r>
            <a:r>
              <a:rPr lang="en-US" sz="2800" dirty="0" err="1">
                <a:solidFill>
                  <a:srgbClr val="002060"/>
                </a:solidFill>
                <a:latin typeface="Times New Roman" panose="02020603050405020304" pitchFamily="18" charset="0"/>
                <a:ea typeface="Overpass Light" pitchFamily="34" charset="-122"/>
                <a:cs typeface="Times New Roman" panose="02020603050405020304" pitchFamily="18" charset="0"/>
              </a:rPr>
              <a:t>capabilities.</a:t>
            </a:r>
            <a:r>
              <a:rPr lang="en-US" sz="2800" dirty="0" err="1">
                <a:solidFill>
                  <a:srgbClr val="002060"/>
                </a:solidFill>
                <a:latin typeface="Times New Roman" panose="02020603050405020304" pitchFamily="18" charset="0"/>
                <a:cs typeface="Times New Roman" panose="02020603050405020304" pitchFamily="18" charset="0"/>
              </a:rPr>
              <a:t>The</a:t>
            </a:r>
            <a:r>
              <a:rPr lang="en-US" sz="2800" dirty="0">
                <a:solidFill>
                  <a:srgbClr val="002060"/>
                </a:solidFill>
                <a:latin typeface="Times New Roman" panose="02020603050405020304" pitchFamily="18" charset="0"/>
                <a:cs typeface="Times New Roman" panose="02020603050405020304" pitchFamily="18" charset="0"/>
              </a:rPr>
              <a:t> use of classes (Flight, Passenger, Reservation) to model real-world entities.</a:t>
            </a:r>
          </a:p>
          <a:p>
            <a:pPr algn="just"/>
            <a:r>
              <a:rPr lang="en-IN" sz="2800" b="1" dirty="0">
                <a:solidFill>
                  <a:srgbClr val="002060"/>
                </a:solidFill>
                <a:latin typeface="Times New Roman" panose="02020603050405020304" pitchFamily="18" charset="0"/>
                <a:cs typeface="Times New Roman" panose="02020603050405020304" pitchFamily="18" charset="0"/>
              </a:rPr>
              <a:t>Data Structures:</a:t>
            </a:r>
            <a:r>
              <a:rPr lang="en-IN" sz="2800" dirty="0">
                <a:solidFill>
                  <a:srgbClr val="002060"/>
                </a:solidFill>
                <a:latin typeface="Times New Roman" panose="02020603050405020304" pitchFamily="18" charset="0"/>
                <a:cs typeface="Times New Roman" panose="02020603050405020304" pitchFamily="18" charset="0"/>
              </a:rPr>
              <a:t> The utilisation of standard Java collections like </a:t>
            </a:r>
            <a:r>
              <a:rPr lang="en-IN" sz="2800" dirty="0" err="1">
                <a:solidFill>
                  <a:srgbClr val="002060"/>
                </a:solidFill>
                <a:latin typeface="Times New Roman" panose="02020603050405020304" pitchFamily="18" charset="0"/>
                <a:cs typeface="Times New Roman" panose="02020603050405020304" pitchFamily="18" charset="0"/>
              </a:rPr>
              <a:t>ArrayList</a:t>
            </a:r>
            <a:r>
              <a:rPr lang="en-IN" sz="2800" dirty="0">
                <a:solidFill>
                  <a:srgbClr val="002060"/>
                </a:solidFill>
                <a:latin typeface="Times New Roman" panose="02020603050405020304" pitchFamily="18" charset="0"/>
                <a:cs typeface="Times New Roman" panose="02020603050405020304" pitchFamily="18" charset="0"/>
              </a:rPr>
              <a:t>, arrays (e.g., </a:t>
            </a:r>
            <a:r>
              <a:rPr lang="en-IN" sz="2800" dirty="0" err="1">
                <a:solidFill>
                  <a:srgbClr val="002060"/>
                </a:solidFill>
                <a:latin typeface="Times New Roman" panose="02020603050405020304" pitchFamily="18" charset="0"/>
                <a:cs typeface="Times New Roman" panose="02020603050405020304" pitchFamily="18" charset="0"/>
              </a:rPr>
              <a:t>boolean</a:t>
            </a:r>
            <a:r>
              <a:rPr lang="en-IN" sz="2800" dirty="0">
                <a:solidFill>
                  <a:srgbClr val="002060"/>
                </a:solidFill>
                <a:latin typeface="Times New Roman" panose="02020603050405020304" pitchFamily="18" charset="0"/>
                <a:cs typeface="Times New Roman" panose="02020603050405020304" pitchFamily="18" charset="0"/>
              </a:rPr>
              <a:t>[] for seat availability), and potentially HashMap.</a:t>
            </a:r>
          </a:p>
          <a:p>
            <a:pPr marL="0" indent="0" algn="just">
              <a:buNone/>
            </a:pPr>
            <a:r>
              <a:rPr lang="en-US" sz="2800" b="1" dirty="0">
                <a:solidFill>
                  <a:srgbClr val="002060"/>
                </a:solidFill>
                <a:latin typeface="Times New Roman" panose="02020603050405020304" pitchFamily="18" charset="0"/>
                <a:ea typeface="Overpass Light" pitchFamily="34" charset="-122"/>
                <a:cs typeface="Times New Roman" panose="02020603050405020304" pitchFamily="18" charset="0"/>
              </a:rPr>
              <a:t>JDBC</a:t>
            </a:r>
            <a:r>
              <a:rPr lang="en-US" sz="2800" dirty="0">
                <a:solidFill>
                  <a:srgbClr val="002060"/>
                </a:solidFill>
                <a:latin typeface="Times New Roman" panose="02020603050405020304" pitchFamily="18" charset="0"/>
                <a:ea typeface="Overpass Light" pitchFamily="34" charset="-122"/>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Database connectivity using </a:t>
            </a:r>
            <a:r>
              <a:rPr lang="en-US" sz="2800" dirty="0" err="1">
                <a:solidFill>
                  <a:srgbClr val="002060"/>
                </a:solidFill>
                <a:latin typeface="Times New Roman" panose="02020603050405020304" pitchFamily="18" charset="0"/>
                <a:cs typeface="Times New Roman" panose="02020603050405020304" pitchFamily="18" charset="0"/>
              </a:rPr>
              <a:t>DriverManager</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PreparedStatements</a:t>
            </a:r>
            <a:r>
              <a:rPr lang="en-US" sz="2800" dirty="0">
                <a:solidFill>
                  <a:srgbClr val="002060"/>
                </a:solidFill>
                <a:latin typeface="Times New Roman" panose="02020603050405020304" pitchFamily="18" charset="0"/>
                <a:cs typeface="Times New Roman" panose="02020603050405020304" pitchFamily="18" charset="0"/>
              </a:rPr>
              <a:t>, and </a:t>
            </a:r>
            <a:r>
              <a:rPr lang="en-US" sz="2800" dirty="0" err="1">
                <a:solidFill>
                  <a:srgbClr val="002060"/>
                </a:solidFill>
                <a:latin typeface="Times New Roman" panose="02020603050405020304" pitchFamily="18" charset="0"/>
                <a:cs typeface="Times New Roman" panose="02020603050405020304" pitchFamily="18" charset="0"/>
              </a:rPr>
              <a:t>ResultSet</a:t>
            </a:r>
            <a:r>
              <a:rPr lang="en-US" sz="2800" dirty="0">
                <a:solidFill>
                  <a:srgbClr val="002060"/>
                </a:solidFill>
                <a:latin typeface="Times New Roman" panose="02020603050405020304" pitchFamily="18" charset="0"/>
                <a:cs typeface="Times New Roman" panose="02020603050405020304" pitchFamily="18" charset="0"/>
              </a:rPr>
              <a:t> for secure data operations..</a:t>
            </a:r>
          </a:p>
          <a:p>
            <a:pPr marL="0" indent="0" algn="just">
              <a:buNone/>
            </a:pPr>
            <a:r>
              <a:rPr lang="en-US" sz="2800" b="1" dirty="0">
                <a:solidFill>
                  <a:srgbClr val="002060"/>
                </a:solidFill>
                <a:latin typeface="Times New Roman" panose="02020603050405020304" pitchFamily="18" charset="0"/>
                <a:cs typeface="Times New Roman" panose="02020603050405020304" pitchFamily="18" charset="0"/>
              </a:rPr>
              <a:t>MySQL Database</a:t>
            </a:r>
            <a:r>
              <a:rPr lang="en-US" sz="2800" dirty="0">
                <a:solidFill>
                  <a:srgbClr val="002060"/>
                </a:solidFill>
                <a:latin typeface="Times New Roman" panose="02020603050405020304" pitchFamily="18" charset="0"/>
                <a:cs typeface="Times New Roman" panose="02020603050405020304" pitchFamily="18" charset="0"/>
              </a:rPr>
              <a:t>: Relational database for storing flight details, passenger records, and booking transactions.</a:t>
            </a:r>
          </a:p>
          <a:p>
            <a:pPr marL="0" indent="0" algn="l">
              <a:lnSpc>
                <a:spcPts val="2500"/>
              </a:lnSpc>
              <a:buNone/>
            </a:pPr>
            <a:endParaRPr lang="en-US" sz="1400" dirty="0"/>
          </a:p>
        </p:txBody>
      </p:sp>
      <p:pic>
        <p:nvPicPr>
          <p:cNvPr id="10" name="Picture 9">
            <a:extLst>
              <a:ext uri="{FF2B5EF4-FFF2-40B4-BE49-F238E27FC236}">
                <a16:creationId xmlns:a16="http://schemas.microsoft.com/office/drawing/2014/main" id="{EB41C019-7A8E-410D-F274-2224DB16BD77}"/>
              </a:ext>
            </a:extLst>
          </p:cNvPr>
          <p:cNvPicPr>
            <a:picLocks noChangeAspect="1"/>
          </p:cNvPicPr>
          <p:nvPr/>
        </p:nvPicPr>
        <p:blipFill>
          <a:blip r:embed="rId4"/>
          <a:stretch>
            <a:fillRect/>
          </a:stretch>
        </p:blipFill>
        <p:spPr>
          <a:xfrm>
            <a:off x="526093" y="2764010"/>
            <a:ext cx="4546601" cy="22814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335644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D405-2646-1EEF-002C-FA379BD9B978}"/>
              </a:ext>
            </a:extLst>
          </p:cNvPr>
          <p:cNvSpPr>
            <a:spLocks noGrp="1"/>
          </p:cNvSpPr>
          <p:nvPr>
            <p:ph type="ctrTitle"/>
          </p:nvPr>
        </p:nvSpPr>
        <p:spPr>
          <a:xfrm>
            <a:off x="5" y="1"/>
            <a:ext cx="8572496" cy="871551"/>
          </a:xfrm>
        </p:spPr>
        <p:txBody>
          <a:bodyPr/>
          <a:lstStyle/>
          <a:p>
            <a:r>
              <a:rPr lang="en-US" sz="6600" b="1" dirty="0">
                <a:solidFill>
                  <a:schemeClr val="bg1"/>
                </a:solidFill>
                <a:latin typeface="Times New Roman" panose="02020603050405020304" pitchFamily="18" charset="0"/>
                <a:cs typeface="Times New Roman" panose="02020603050405020304" pitchFamily="18" charset="0"/>
              </a:rPr>
              <a:t>Key Features </a:t>
            </a:r>
            <a:endParaRPr lang="en-IN" sz="66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50051AF-A919-EA01-74CE-848AB8F960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7" name="TextBox 6">
            <a:extLst>
              <a:ext uri="{FF2B5EF4-FFF2-40B4-BE49-F238E27FC236}">
                <a16:creationId xmlns:a16="http://schemas.microsoft.com/office/drawing/2014/main" id="{7CE3A3D7-4CE7-BCF6-0F96-EAB73C389029}"/>
              </a:ext>
            </a:extLst>
          </p:cNvPr>
          <p:cNvSpPr txBox="1"/>
          <p:nvPr/>
        </p:nvSpPr>
        <p:spPr>
          <a:xfrm flipH="1">
            <a:off x="501039" y="1056218"/>
            <a:ext cx="13310369" cy="7817525"/>
          </a:xfrm>
          <a:prstGeom prst="rect">
            <a:avLst/>
          </a:prstGeom>
          <a:noFill/>
        </p:spPr>
        <p:txBody>
          <a:bodyPr wrap="square" rtlCol="0">
            <a:spAutoFit/>
          </a:bodyPr>
          <a:lstStyle/>
          <a:p>
            <a:pPr>
              <a:buNone/>
            </a:pPr>
            <a:r>
              <a:rPr lang="en-US" sz="2800" b="1" dirty="0">
                <a:latin typeface="Times New Roman" panose="02020603050405020304" pitchFamily="18" charset="0"/>
                <a:cs typeface="Times New Roman" panose="02020603050405020304" pitchFamily="18" charset="0"/>
              </a:rPr>
              <a:t>Frontend Implementation (React.js)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Pages: Signup/Login, Dashboard, Course List, Course Details.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Components: Navbar, Sidebar, Card, </a:t>
            </a:r>
            <a:r>
              <a:rPr lang="en-US" sz="2800" dirty="0" err="1">
                <a:latin typeface="Times New Roman" panose="02020603050405020304" pitchFamily="18" charset="0"/>
                <a:cs typeface="Times New Roman" panose="02020603050405020304" pitchFamily="18" charset="0"/>
              </a:rPr>
              <a:t>CourseTile</a:t>
            </a:r>
            <a:r>
              <a:rPr lang="en-US" sz="2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State Management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useContext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useReducer</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API Calls: Axios to Express API</a:t>
            </a: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Backend Implementation (Node.js + Express.js + MongoDB) :</a:t>
            </a:r>
          </a:p>
          <a:p>
            <a:pPr marL="457200" indent="-457200" rtl="0">
              <a:buFont typeface="Arial" panose="020B0604020202020204" pitchFamily="34" charset="0"/>
              <a:buChar char="•"/>
            </a:pPr>
            <a:r>
              <a:rPr lang="en-US" sz="2800" dirty="0">
                <a:effectLst/>
                <a:latin typeface="Times New Roman" panose="02020603050405020304" pitchFamily="18" charset="0"/>
                <a:cs typeface="Times New Roman" panose="02020603050405020304" pitchFamily="18" charset="0"/>
              </a:rPr>
              <a:t>Initialize the Project</a:t>
            </a:r>
            <a:endParaRPr lang="en-US" sz="2800" dirty="0">
              <a:latin typeface="Times New Roman" panose="02020603050405020304" pitchFamily="18" charset="0"/>
              <a:cs typeface="Times New Roman" panose="02020603050405020304" pitchFamily="18" charset="0"/>
            </a:endParaRPr>
          </a:p>
          <a:p>
            <a:pPr marL="457200" indent="-457200" rtl="0">
              <a:buFont typeface="Arial" panose="020B0604020202020204" pitchFamily="34" charset="0"/>
              <a:buChar char="•"/>
            </a:pPr>
            <a:r>
              <a:rPr lang="en-US" sz="2800" dirty="0">
                <a:effectLst/>
                <a:latin typeface="Times New Roman" panose="02020603050405020304" pitchFamily="18" charset="0"/>
                <a:cs typeface="Times New Roman" panose="02020603050405020304" pitchFamily="18" charset="0"/>
              </a:rPr>
              <a:t>Connect MongoDB</a:t>
            </a:r>
            <a:endParaRPr lang="en-US" sz="2800" dirty="0">
              <a:latin typeface="Times New Roman" panose="02020603050405020304" pitchFamily="18" charset="0"/>
              <a:cs typeface="Times New Roman" panose="02020603050405020304" pitchFamily="18" charset="0"/>
            </a:endParaRPr>
          </a:p>
          <a:p>
            <a:pPr marL="457200" indent="-457200" rtl="0">
              <a:buFont typeface="Arial" panose="020B0604020202020204" pitchFamily="34" charset="0"/>
              <a:buChar char="•"/>
            </a:pPr>
            <a:r>
              <a:rPr lang="en-US" sz="2800" dirty="0">
                <a:effectLst/>
                <a:latin typeface="Times New Roman" panose="02020603050405020304" pitchFamily="18" charset="0"/>
                <a:cs typeface="Times New Roman" panose="02020603050405020304" pitchFamily="18" charset="0"/>
              </a:rPr>
              <a:t>Set up Project Structure</a:t>
            </a:r>
          </a:p>
          <a:p>
            <a:pPr marL="457200" indent="-457200" rtl="0">
              <a:buFont typeface="Arial" panose="020B0604020202020204" pitchFamily="34" charset="0"/>
              <a:buChar char="•"/>
            </a:pPr>
            <a:r>
              <a:rPr lang="en-US" sz="2800" dirty="0">
                <a:effectLst/>
                <a:latin typeface="Times New Roman" panose="02020603050405020304" pitchFamily="18" charset="0"/>
                <a:cs typeface="Times New Roman" panose="02020603050405020304" pitchFamily="18" charset="0"/>
              </a:rPr>
              <a:t>Implement User Authentication</a:t>
            </a:r>
          </a:p>
          <a:p>
            <a:pPr marL="457200" indent="-457200" rtl="0">
              <a:buFont typeface="Arial" panose="020B0604020202020204" pitchFamily="34" charset="0"/>
              <a:buChar char="•"/>
            </a:pPr>
            <a:r>
              <a:rPr lang="en-US" sz="2800" dirty="0">
                <a:effectLst/>
                <a:latin typeface="Times New Roman" panose="02020603050405020304" pitchFamily="18" charset="0"/>
                <a:cs typeface="Times New Roman" panose="02020603050405020304" pitchFamily="18" charset="0"/>
              </a:rPr>
              <a:t>Course Management</a:t>
            </a:r>
          </a:p>
          <a:p>
            <a:pPr marL="457200" indent="-457200"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File Uploads using </a:t>
            </a:r>
            <a:r>
              <a:rPr lang="en-IN" sz="2800" dirty="0" err="1">
                <a:latin typeface="Times New Roman" panose="02020603050405020304" pitchFamily="18" charset="0"/>
                <a:cs typeface="Times New Roman" panose="02020603050405020304" pitchFamily="18" charset="0"/>
              </a:rPr>
              <a:t>multer</a:t>
            </a:r>
            <a:r>
              <a:rPr lang="en-IN" sz="2800" dirty="0">
                <a:latin typeface="Times New Roman" panose="02020603050405020304" pitchFamily="18" charset="0"/>
                <a:cs typeface="Times New Roman" panose="02020603050405020304" pitchFamily="18" charset="0"/>
              </a:rPr>
              <a:t>.</a:t>
            </a:r>
          </a:p>
          <a:p>
            <a:pPr marL="457200" indent="-457200"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Testing and Security</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buNone/>
            </a:pP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dirty="0"/>
          </a:p>
        </p:txBody>
      </p:sp>
      <p:pic>
        <p:nvPicPr>
          <p:cNvPr id="3" name="Picture 2">
            <a:extLst>
              <a:ext uri="{FF2B5EF4-FFF2-40B4-BE49-F238E27FC236}">
                <a16:creationId xmlns:a16="http://schemas.microsoft.com/office/drawing/2014/main" id="{CDC5BD2A-A93A-D925-FA7A-21981BA31DDD}"/>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631" t="29155" r="2101" b="1290"/>
          <a:stretch>
            <a:fillRect/>
          </a:stretch>
        </p:blipFill>
        <p:spPr>
          <a:xfrm>
            <a:off x="0" y="968101"/>
            <a:ext cx="14538325" cy="6795877"/>
          </a:xfrm>
          <a:prstGeom prst="rect">
            <a:avLst/>
          </a:prstGeom>
        </p:spPr>
      </p:pic>
      <p:sp>
        <p:nvSpPr>
          <p:cNvPr id="6" name="TextBox 5">
            <a:extLst>
              <a:ext uri="{FF2B5EF4-FFF2-40B4-BE49-F238E27FC236}">
                <a16:creationId xmlns:a16="http://schemas.microsoft.com/office/drawing/2014/main" id="{70555ABE-9828-65AF-8AD8-A1182AEA3445}"/>
              </a:ext>
            </a:extLst>
          </p:cNvPr>
          <p:cNvSpPr txBox="1"/>
          <p:nvPr/>
        </p:nvSpPr>
        <p:spPr>
          <a:xfrm>
            <a:off x="1079499" y="1524000"/>
            <a:ext cx="5136535" cy="2123658"/>
          </a:xfrm>
          <a:prstGeom prst="rect">
            <a:avLst/>
          </a:prstGeom>
          <a:ln>
            <a:noFill/>
          </a:ln>
          <a:effectLst>
            <a:innerShdw blurRad="63500" dist="50800" dir="135000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US" sz="3600" b="1" dirty="0">
                <a:solidFill>
                  <a:srgbClr val="002060"/>
                </a:solidFill>
                <a:latin typeface="Times New Roman" panose="02020603050405020304" pitchFamily="18" charset="0"/>
                <a:ea typeface="Syne Bold" pitchFamily="34" charset="-122"/>
                <a:cs typeface="Times New Roman" panose="02020603050405020304" pitchFamily="18" charset="0"/>
              </a:rPr>
              <a:t>Passenger Registration</a:t>
            </a:r>
            <a:endParaRPr lang="en-US" sz="3600" dirty="0">
              <a:solidFill>
                <a:srgbClr val="002060"/>
              </a:solidFill>
              <a:latin typeface="Times New Roman" panose="02020603050405020304" pitchFamily="18" charset="0"/>
              <a:ea typeface="Overpass Light" pitchFamily="34" charset="-122"/>
              <a:cs typeface="Times New Roman" panose="02020603050405020304" pitchFamily="18" charset="0"/>
            </a:endParaRPr>
          </a:p>
          <a:p>
            <a:pPr marL="0" indent="0" algn="just">
              <a:buNone/>
            </a:pPr>
            <a:r>
              <a:rPr lang="en-US" sz="3200" i="1" dirty="0">
                <a:solidFill>
                  <a:srgbClr val="002060"/>
                </a:solidFill>
                <a:latin typeface="Times New Roman" panose="02020603050405020304" pitchFamily="18" charset="0"/>
                <a:ea typeface="Overpass Light" pitchFamily="34" charset="-122"/>
                <a:cs typeface="Times New Roman" panose="02020603050405020304" pitchFamily="18" charset="0"/>
              </a:rPr>
              <a:t>Capture passenger details with validation and store securely in database</a:t>
            </a:r>
            <a:endParaRPr lang="en-US" sz="3200" i="1" dirty="0">
              <a:solidFill>
                <a:srgbClr val="00206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01327EB-44D2-0E96-A97B-42520D89459A}"/>
              </a:ext>
            </a:extLst>
          </p:cNvPr>
          <p:cNvSpPr txBox="1"/>
          <p:nvPr/>
        </p:nvSpPr>
        <p:spPr>
          <a:xfrm>
            <a:off x="7150100" y="1524000"/>
            <a:ext cx="5295900" cy="212365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US" sz="3600" b="1" dirty="0">
                <a:solidFill>
                  <a:srgbClr val="002060"/>
                </a:solidFill>
                <a:latin typeface="Times New Roman" panose="02020603050405020304" pitchFamily="18" charset="0"/>
                <a:ea typeface="Syne Bold" pitchFamily="34" charset="-122"/>
                <a:cs typeface="Times New Roman" panose="02020603050405020304" pitchFamily="18" charset="0"/>
              </a:rPr>
              <a:t>Booking Management</a:t>
            </a:r>
          </a:p>
          <a:p>
            <a:pPr algn="just"/>
            <a:r>
              <a:rPr lang="en-US" sz="3200" i="1" dirty="0">
                <a:solidFill>
                  <a:srgbClr val="002060"/>
                </a:solidFill>
                <a:latin typeface="Times New Roman" panose="02020603050405020304" pitchFamily="18" charset="0"/>
                <a:ea typeface="Overpass Light" pitchFamily="34" charset="-122"/>
                <a:cs typeface="Times New Roman" panose="02020603050405020304" pitchFamily="18" charset="0"/>
              </a:rPr>
              <a:t>Create, modify, and cancel reservations with automatic seat allocation.</a:t>
            </a:r>
            <a:endParaRPr lang="en-US" sz="3200" i="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E230A69-7783-B4BE-FCC1-9CB65EF01573}"/>
              </a:ext>
            </a:extLst>
          </p:cNvPr>
          <p:cNvSpPr txBox="1"/>
          <p:nvPr/>
        </p:nvSpPr>
        <p:spPr>
          <a:xfrm>
            <a:off x="1079498" y="4288718"/>
            <a:ext cx="5136535" cy="212365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IN" sz="3600" b="1" dirty="0">
                <a:solidFill>
                  <a:srgbClr val="002060"/>
                </a:solidFill>
                <a:latin typeface="Times New Roman" panose="02020603050405020304" pitchFamily="18" charset="0"/>
                <a:cs typeface="Times New Roman" panose="02020603050405020304" pitchFamily="18" charset="0"/>
              </a:rPr>
              <a:t>Flight Management </a:t>
            </a:r>
          </a:p>
          <a:p>
            <a:pPr algn="just"/>
            <a:r>
              <a:rPr lang="en-US" sz="3200" i="1" dirty="0">
                <a:solidFill>
                  <a:srgbClr val="002060"/>
                </a:solidFill>
                <a:latin typeface="Times New Roman" panose="02020603050405020304" pitchFamily="18" charset="0"/>
                <a:cs typeface="Times New Roman" panose="02020603050405020304" pitchFamily="18" charset="0"/>
              </a:rPr>
              <a:t>Flight CRUD operations: create, view, update, and delete flights.</a:t>
            </a:r>
            <a:endParaRPr lang="en-IN" sz="3200" i="1" dirty="0">
              <a:solidFill>
                <a:srgbClr val="00206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48FE84E-5372-1EC4-E8ED-85C4D2825C79}"/>
              </a:ext>
            </a:extLst>
          </p:cNvPr>
          <p:cNvSpPr txBox="1"/>
          <p:nvPr/>
        </p:nvSpPr>
        <p:spPr>
          <a:xfrm>
            <a:off x="7150100" y="4300106"/>
            <a:ext cx="5295900" cy="267765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IN" sz="3600" b="1" dirty="0">
                <a:solidFill>
                  <a:srgbClr val="002060"/>
                </a:solidFill>
                <a:latin typeface="Times New Roman" panose="02020603050405020304" pitchFamily="18" charset="0"/>
                <a:cs typeface="Times New Roman" panose="02020603050405020304" pitchFamily="18" charset="0"/>
              </a:rPr>
              <a:t>JDBC-Based Database Connectivity</a:t>
            </a:r>
          </a:p>
          <a:p>
            <a:pPr algn="just"/>
            <a:r>
              <a:rPr lang="en-US" sz="3200" i="1" dirty="0">
                <a:solidFill>
                  <a:srgbClr val="002060"/>
                </a:solidFill>
                <a:latin typeface="Times New Roman" panose="02020603050405020304" pitchFamily="18" charset="0"/>
                <a:cs typeface="Times New Roman" panose="02020603050405020304" pitchFamily="18" charset="0"/>
              </a:rPr>
              <a:t>Uses JDBC for SQL queries and MySQL interaction without any framework.</a:t>
            </a:r>
            <a:endParaRPr lang="en-IN" sz="3200" i="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48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1b899a59831_0_14"/>
          <p:cNvSpPr txBox="1">
            <a:spLocks noGrp="1"/>
          </p:cNvSpPr>
          <p:nvPr>
            <p:ph type="title"/>
          </p:nvPr>
        </p:nvSpPr>
        <p:spPr>
          <a:xfrm>
            <a:off x="0" y="1"/>
            <a:ext cx="10147300" cy="844109"/>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7200" b="1" dirty="0">
                <a:solidFill>
                  <a:schemeClr val="bg1"/>
                </a:solidFill>
                <a:latin typeface="Times New Roman" panose="02020603050405020304" pitchFamily="18" charset="0"/>
                <a:cs typeface="Times New Roman" panose="02020603050405020304" pitchFamily="18" charset="0"/>
              </a:rPr>
              <a:t>Database Schema  </a:t>
            </a:r>
            <a:endParaRPr sz="7200" b="1" dirty="0">
              <a:solidFill>
                <a:schemeClr val="bg1"/>
              </a:solidFill>
              <a:latin typeface="Times New Roman" panose="02020603050405020304" pitchFamily="18" charset="0"/>
              <a:cs typeface="Times New Roman" panose="02020603050405020304" pitchFamily="18" charset="0"/>
            </a:endParaRPr>
          </a:p>
        </p:txBody>
      </p:sp>
      <p:sp>
        <p:nvSpPr>
          <p:cNvPr id="92" name="Google Shape;92;g1b899a59831_0_14"/>
          <p:cNvSpPr txBox="1">
            <a:spLocks noGrp="1"/>
          </p:cNvSpPr>
          <p:nvPr>
            <p:ph type="body" idx="1"/>
          </p:nvPr>
        </p:nvSpPr>
        <p:spPr>
          <a:xfrm>
            <a:off x="239349" y="1303125"/>
            <a:ext cx="13176026" cy="5348196"/>
          </a:xfrm>
          <a:prstGeom prst="rect">
            <a:avLst/>
          </a:prstGeom>
        </p:spPr>
        <p:txBody>
          <a:bodyPr spcFirstLastPara="1" wrap="square" lIns="91425" tIns="45700" rIns="91425" bIns="45700" anchor="t" anchorCtr="0">
            <a:noAutofit/>
          </a:bodyPr>
          <a:lstStyle/>
          <a:p>
            <a:pPr algn="l">
              <a:buNone/>
            </a:pPr>
            <a:r>
              <a:rPr lang="en-US" sz="2400" b="0" i="0" dirty="0">
                <a:effectLst/>
                <a:latin typeface="Times New Roman" panose="02020603050405020304" pitchFamily="18" charset="0"/>
                <a:cs typeface="Times New Roman" panose="02020603050405020304" pitchFamily="18" charset="0"/>
              </a:rPr>
              <a:t>1. </a:t>
            </a:r>
            <a:r>
              <a:rPr lang="en-US" sz="2400" b="1" i="0" dirty="0">
                <a:effectLst/>
                <a:latin typeface="Times New Roman" panose="02020603050405020304" pitchFamily="18" charset="0"/>
                <a:cs typeface="Times New Roman" panose="02020603050405020304" pitchFamily="18" charset="0"/>
              </a:rPr>
              <a:t>User Authentication and Authorization :</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Secure login and registration using JWT (JSON Web Tokens) or similar methods.</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Role-based access control (RBAC) for students, instructors, and administrators, ensuring users only access features relevant to their roles.</a:t>
            </a:r>
          </a:p>
          <a:p>
            <a:pPr algn="l">
              <a:buNone/>
            </a:pPr>
            <a:r>
              <a:rPr lang="en-US" sz="2400" b="0" i="0" dirty="0">
                <a:effectLst/>
                <a:latin typeface="Times New Roman" panose="02020603050405020304" pitchFamily="18" charset="0"/>
                <a:cs typeface="Times New Roman" panose="02020603050405020304" pitchFamily="18" charset="0"/>
              </a:rPr>
              <a:t>2. </a:t>
            </a:r>
            <a:r>
              <a:rPr lang="en-US" sz="2400" b="1" i="0" dirty="0">
                <a:effectLst/>
                <a:latin typeface="Times New Roman" panose="02020603050405020304" pitchFamily="18" charset="0"/>
                <a:cs typeface="Times New Roman" panose="02020603050405020304" pitchFamily="18" charset="0"/>
              </a:rPr>
              <a:t>Course Management :</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Creation, updating, and deletion of courses by instructors or admins.</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Structured categorization of courses for easy navigation and discovery.</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Upload and management of course materials (videos, PDFs, documents), often using cloud storage solutions</a:t>
            </a:r>
          </a:p>
          <a:p>
            <a:pPr algn="l">
              <a:buNone/>
            </a:pPr>
            <a:r>
              <a:rPr lang="en-US" sz="2400" b="0" i="0" dirty="0">
                <a:effectLst/>
                <a:latin typeface="Times New Roman" panose="02020603050405020304" pitchFamily="18" charset="0"/>
                <a:cs typeface="Times New Roman" panose="02020603050405020304" pitchFamily="18" charset="0"/>
              </a:rPr>
              <a:t>3. </a:t>
            </a:r>
            <a:r>
              <a:rPr lang="en-US" sz="2400" b="1" i="0" dirty="0">
                <a:effectLst/>
                <a:latin typeface="Times New Roman" panose="02020603050405020304" pitchFamily="18" charset="0"/>
                <a:cs typeface="Times New Roman" panose="02020603050405020304" pitchFamily="18" charset="0"/>
              </a:rPr>
              <a:t>Content Delivery and Interactive Learning :</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Dynamic presentation of course content using React.js for a responsive user experience</a:t>
            </a:r>
          </a:p>
          <a:p>
            <a:pPr algn="l">
              <a:buNone/>
            </a:pPr>
            <a:r>
              <a:rPr lang="en-US" sz="2400" b="0" i="0" dirty="0">
                <a:effectLst/>
                <a:latin typeface="Times New Roman" panose="02020603050405020304" pitchFamily="18" charset="0"/>
                <a:cs typeface="Times New Roman" panose="02020603050405020304" pitchFamily="18" charset="0"/>
              </a:rPr>
              <a:t>4. </a:t>
            </a:r>
            <a:r>
              <a:rPr lang="en-US" sz="2400" b="1" i="0" dirty="0">
                <a:effectLst/>
                <a:latin typeface="Times New Roman" panose="02020603050405020304" pitchFamily="18" charset="0"/>
                <a:cs typeface="Times New Roman" panose="02020603050405020304" pitchFamily="18" charset="0"/>
              </a:rPr>
              <a:t>Responsive and Modern User Interface :</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Intuitive, mobile-friendly design using React.js, ensuring accessibility and a seamless user experience across devices</a:t>
            </a:r>
          </a:p>
          <a:p>
            <a:pPr algn="just">
              <a:buFont typeface="+mj-lt"/>
              <a:buAutoNum type="arabicPeriod"/>
            </a:pPr>
            <a:endParaRPr lang="en-US" sz="2800" b="0" i="0" dirty="0">
              <a:effectLs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FE761C8-ABA2-8EA0-2671-6D724221D93B}"/>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rcRect l="631" t="29155" r="2101" b="1290"/>
          <a:stretch>
            <a:fillRect/>
          </a:stretch>
        </p:blipFill>
        <p:spPr>
          <a:xfrm>
            <a:off x="0" y="968101"/>
            <a:ext cx="14538325" cy="6795877"/>
          </a:xfrm>
          <a:prstGeom prst="rect">
            <a:avLst/>
          </a:prstGeom>
        </p:spPr>
      </p:pic>
      <p:pic>
        <p:nvPicPr>
          <p:cNvPr id="4" name="Picture 3">
            <a:extLst>
              <a:ext uri="{FF2B5EF4-FFF2-40B4-BE49-F238E27FC236}">
                <a16:creationId xmlns:a16="http://schemas.microsoft.com/office/drawing/2014/main" id="{012E4216-AB03-F742-8395-056A0B0EFD1E}"/>
              </a:ext>
            </a:extLst>
          </p:cNvPr>
          <p:cNvPicPr>
            <a:picLocks noChangeAspect="1"/>
          </p:cNvPicPr>
          <p:nvPr/>
        </p:nvPicPr>
        <p:blipFill>
          <a:blip r:embed="rId5"/>
          <a:stretch>
            <a:fillRect/>
          </a:stretch>
        </p:blipFill>
        <p:spPr>
          <a:xfrm>
            <a:off x="1714500" y="1178414"/>
            <a:ext cx="10137397" cy="627631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1b899a59831_0_21"/>
          <p:cNvSpPr txBox="1">
            <a:spLocks noGrp="1"/>
          </p:cNvSpPr>
          <p:nvPr>
            <p:ph type="title"/>
          </p:nvPr>
        </p:nvSpPr>
        <p:spPr>
          <a:xfrm>
            <a:off x="288026" y="1"/>
            <a:ext cx="8417564" cy="819268"/>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IN" sz="6600" b="1" dirty="0">
                <a:solidFill>
                  <a:schemeClr val="bg1"/>
                </a:solidFill>
                <a:latin typeface="Times New Roman" panose="02020603050405020304" pitchFamily="18" charset="0"/>
                <a:cs typeface="Times New Roman" panose="02020603050405020304" pitchFamily="18" charset="0"/>
              </a:rPr>
              <a:t>Project Screenshots</a:t>
            </a:r>
            <a:endParaRPr sz="6600" b="1" dirty="0">
              <a:solidFill>
                <a:schemeClr val="bg1"/>
              </a:solidFill>
              <a:latin typeface="Times New Roman" panose="02020603050405020304" pitchFamily="18" charset="0"/>
              <a:cs typeface="Times New Roman" panose="02020603050405020304" pitchFamily="18" charset="0"/>
            </a:endParaRPr>
          </a:p>
        </p:txBody>
      </p:sp>
      <p:sp>
        <p:nvSpPr>
          <p:cNvPr id="101" name="Google Shape;101;g1b899a59831_0_21"/>
          <p:cNvSpPr txBox="1">
            <a:spLocks noGrp="1"/>
          </p:cNvSpPr>
          <p:nvPr>
            <p:ph type="body" idx="1"/>
          </p:nvPr>
        </p:nvSpPr>
        <p:spPr>
          <a:xfrm>
            <a:off x="354600" y="1241075"/>
            <a:ext cx="13895700" cy="6101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dirty="0"/>
              <a:t>       </a:t>
            </a:r>
            <a:endParaRPr sz="4600" b="1" dirty="0">
              <a:solidFill>
                <a:srgbClr val="FF3300"/>
              </a:solidFill>
              <a:latin typeface="Times New Roman"/>
              <a:ea typeface="Times New Roman"/>
              <a:cs typeface="Times New Roman"/>
              <a:sym typeface="Times New Roman"/>
            </a:endParaRPr>
          </a:p>
        </p:txBody>
      </p:sp>
      <p:sp>
        <p:nvSpPr>
          <p:cNvPr id="102" name="Google Shape;102;g1b899a59831_0_21"/>
          <p:cNvSpPr txBox="1">
            <a:spLocks noGrp="1"/>
          </p:cNvSpPr>
          <p:nvPr>
            <p:ph type="sldNum" idx="12"/>
          </p:nvPr>
        </p:nvSpPr>
        <p:spPr>
          <a:xfrm>
            <a:off x="10419133" y="7342178"/>
            <a:ext cx="3392400" cy="4218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103" name="Google Shape;103;g1b899a59831_0_21"/>
          <p:cNvSpPr txBox="1"/>
          <p:nvPr/>
        </p:nvSpPr>
        <p:spPr>
          <a:xfrm>
            <a:off x="484900" y="2515500"/>
            <a:ext cx="135696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Calibri"/>
                <a:ea typeface="Calibri"/>
                <a:cs typeface="Calibri"/>
                <a:sym typeface="Calibri"/>
              </a:rPr>
              <a:t>   </a:t>
            </a:r>
            <a:r>
              <a:rPr lang="en-US" sz="1300" dirty="0">
                <a:latin typeface="Calibri"/>
                <a:ea typeface="Calibri"/>
                <a:cs typeface="Calibri"/>
                <a:sym typeface="Calibri"/>
              </a:rPr>
              <a:t> </a:t>
            </a:r>
            <a:endParaRPr sz="3000" b="1" dirty="0">
              <a:latin typeface="Times New Roman"/>
              <a:ea typeface="Times New Roman"/>
              <a:cs typeface="Times New Roman"/>
              <a:sym typeface="Times New Roman"/>
            </a:endParaRPr>
          </a:p>
        </p:txBody>
      </p:sp>
      <p:sp>
        <p:nvSpPr>
          <p:cNvPr id="104" name="Google Shape;104;g1b899a59831_0_21"/>
          <p:cNvSpPr txBox="1"/>
          <p:nvPr/>
        </p:nvSpPr>
        <p:spPr>
          <a:xfrm>
            <a:off x="288025" y="1241072"/>
            <a:ext cx="8417564" cy="6101102"/>
          </a:xfrm>
          <a:prstGeom prst="rect">
            <a:avLst/>
          </a:prstGeom>
          <a:noFill/>
          <a:ln>
            <a:noFill/>
          </a:ln>
        </p:spPr>
        <p:txBody>
          <a:bodyPr spcFirstLastPara="1" wrap="square" lIns="91425" tIns="91425" rIns="91425" bIns="91425" anchor="t" anchorCtr="0">
            <a:noAutofit/>
          </a:bodyPr>
          <a:lstStyle/>
          <a:p>
            <a:pPr marL="514350" indent="-514350" algn="just">
              <a:buAutoNum type="arabicPeriod"/>
            </a:pPr>
            <a:r>
              <a:rPr lang="en-IN" sz="2800" b="1" i="0" dirty="0">
                <a:effectLst/>
                <a:latin typeface="Times New Roman" panose="02020603050405020304" pitchFamily="18" charset="0"/>
                <a:cs typeface="Times New Roman" panose="02020603050405020304" pitchFamily="18" charset="0"/>
              </a:rPr>
              <a:t>User Registration and Authentication </a:t>
            </a:r>
            <a:r>
              <a:rPr lang="en-IN" sz="2800" b="0"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Secure sign-up and login via JWT-based authentication. </a:t>
            </a:r>
            <a:r>
              <a:rPr lang="en-IN" sz="2800" b="0" i="0" dirty="0">
                <a:effectLst/>
                <a:latin typeface="Times New Roman" panose="02020603050405020304" pitchFamily="18" charset="0"/>
                <a:cs typeface="Times New Roman" panose="02020603050405020304" pitchFamily="18" charset="0"/>
              </a:rPr>
              <a:t>Once a new user registers on the platform, there is a feature of </a:t>
            </a:r>
            <a:r>
              <a:rPr lang="en-IN" sz="2800" b="0" i="0" dirty="0" err="1">
                <a:effectLst/>
                <a:latin typeface="Times New Roman" panose="02020603050405020304" pitchFamily="18" charset="0"/>
                <a:cs typeface="Times New Roman" panose="02020603050405020304" pitchFamily="18" charset="0"/>
              </a:rPr>
              <a:t>otp</a:t>
            </a:r>
            <a:r>
              <a:rPr lang="en-IN" sz="2800" b="0" i="0" dirty="0">
                <a:effectLst/>
                <a:latin typeface="Times New Roman" panose="02020603050405020304" pitchFamily="18" charset="0"/>
                <a:cs typeface="Times New Roman" panose="02020603050405020304" pitchFamily="18" charset="0"/>
              </a:rPr>
              <a:t> verification in which an </a:t>
            </a:r>
            <a:r>
              <a:rPr lang="en-IN" sz="2800" b="0" i="0" dirty="0" err="1">
                <a:effectLst/>
                <a:latin typeface="Times New Roman" panose="02020603050405020304" pitchFamily="18" charset="0"/>
                <a:cs typeface="Times New Roman" panose="02020603050405020304" pitchFamily="18" charset="0"/>
              </a:rPr>
              <a:t>otp</a:t>
            </a:r>
            <a:r>
              <a:rPr lang="en-IN" sz="2800" b="0" i="0" dirty="0">
                <a:effectLst/>
                <a:latin typeface="Times New Roman" panose="02020603050405020304" pitchFamily="18" charset="0"/>
                <a:cs typeface="Times New Roman" panose="02020603050405020304" pitchFamily="18" charset="0"/>
              </a:rPr>
              <a:t> will be sent to his/her email account, after that, they can successfully register.</a:t>
            </a:r>
          </a:p>
          <a:p>
            <a:pPr marL="514350" indent="-514350" algn="just">
              <a:buAutoNum type="arabicPeriod"/>
            </a:pPr>
            <a:endParaRPr lang="en-IN" sz="2800" b="0" i="0" dirty="0">
              <a:effectLst/>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i="0" dirty="0">
                <a:effectLst/>
                <a:latin typeface="Times New Roman" panose="02020603050405020304" pitchFamily="18" charset="0"/>
                <a:cs typeface="Times New Roman" panose="02020603050405020304" pitchFamily="18" charset="0"/>
              </a:rPr>
              <a:t>Profile Management</a:t>
            </a:r>
            <a:r>
              <a:rPr lang="en-IN" sz="2800" b="0"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Ability for users to view and access their personal information.</a:t>
            </a:r>
          </a:p>
          <a:p>
            <a:pPr marL="514350" indent="-514350" algn="just">
              <a:buFont typeface="+mj-lt"/>
              <a:buAutoNum type="arabicPeriod"/>
            </a:pP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i="0" dirty="0">
                <a:effectLst/>
                <a:latin typeface="Times New Roman" panose="02020603050405020304" pitchFamily="18" charset="0"/>
                <a:cs typeface="Times New Roman" panose="02020603050405020304" pitchFamily="18" charset="0"/>
              </a:rPr>
              <a:t>Course </a:t>
            </a:r>
            <a:r>
              <a:rPr lang="en-IN" sz="2800" b="1" i="0" dirty="0" err="1">
                <a:effectLst/>
                <a:latin typeface="Times New Roman" panose="02020603050405020304" pitchFamily="18" charset="0"/>
                <a:cs typeface="Times New Roman" panose="02020603050405020304" pitchFamily="18" charset="0"/>
              </a:rPr>
              <a:t>Enrollment</a:t>
            </a:r>
            <a:r>
              <a:rPr lang="en-IN" sz="2800" b="0"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Students can browse, search, and enroll in available courses.</a:t>
            </a:r>
          </a:p>
        </p:txBody>
      </p:sp>
      <p:pic>
        <p:nvPicPr>
          <p:cNvPr id="4098" name="Picture 2" descr="Online teaching and learning post Covid outbreak: A boon or bane in India?  - Jaipuria Institute of Management, Indirapuram Ghaziabad">
            <a:extLst>
              <a:ext uri="{FF2B5EF4-FFF2-40B4-BE49-F238E27FC236}">
                <a16:creationId xmlns:a16="http://schemas.microsoft.com/office/drawing/2014/main" id="{8B7FBA9A-FDBD-BFAD-1391-C98537C71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2970" y="2523055"/>
            <a:ext cx="5198105" cy="26058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FEEBFD0-CAF4-BC0A-CD1B-703908C8696A}"/>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rcRect l="631" t="29155" r="2101" b="1290"/>
          <a:stretch>
            <a:fillRect/>
          </a:stretch>
        </p:blipFill>
        <p:spPr>
          <a:xfrm>
            <a:off x="0" y="968101"/>
            <a:ext cx="14538325" cy="6795877"/>
          </a:xfrm>
          <a:prstGeom prst="rect">
            <a:avLst/>
          </a:prstGeom>
        </p:spPr>
      </p:pic>
      <p:pic>
        <p:nvPicPr>
          <p:cNvPr id="6" name="Picture 5">
            <a:extLst>
              <a:ext uri="{FF2B5EF4-FFF2-40B4-BE49-F238E27FC236}">
                <a16:creationId xmlns:a16="http://schemas.microsoft.com/office/drawing/2014/main" id="{4C4491C2-DC3F-7353-1D72-65430932869D}"/>
              </a:ext>
            </a:extLst>
          </p:cNvPr>
          <p:cNvPicPr>
            <a:picLocks noChangeAspect="1"/>
          </p:cNvPicPr>
          <p:nvPr/>
        </p:nvPicPr>
        <p:blipFill>
          <a:blip r:embed="rId6"/>
          <a:srcRect l="2775" t="6410" b="10384"/>
          <a:stretch>
            <a:fillRect/>
          </a:stretch>
        </p:blipFill>
        <p:spPr>
          <a:xfrm>
            <a:off x="726792" y="1078834"/>
            <a:ext cx="4472369" cy="6439566"/>
          </a:xfrm>
          <a:prstGeom prst="rect">
            <a:avLst/>
          </a:prstGeom>
          <a:ln>
            <a:noFill/>
          </a:ln>
          <a:effectLst>
            <a:softEdge rad="112500"/>
          </a:effectLst>
        </p:spPr>
      </p:pic>
      <p:pic>
        <p:nvPicPr>
          <p:cNvPr id="10" name="Picture 9">
            <a:extLst>
              <a:ext uri="{FF2B5EF4-FFF2-40B4-BE49-F238E27FC236}">
                <a16:creationId xmlns:a16="http://schemas.microsoft.com/office/drawing/2014/main" id="{67E1BD23-101C-6627-7E97-B0A7B2071624}"/>
              </a:ext>
            </a:extLst>
          </p:cNvPr>
          <p:cNvPicPr>
            <a:picLocks noChangeAspect="1"/>
          </p:cNvPicPr>
          <p:nvPr/>
        </p:nvPicPr>
        <p:blipFill>
          <a:blip r:embed="rId7"/>
          <a:srcRect r="48910"/>
          <a:stretch>
            <a:fillRect/>
          </a:stretch>
        </p:blipFill>
        <p:spPr>
          <a:xfrm>
            <a:off x="5612616" y="2126912"/>
            <a:ext cx="8317880" cy="4354473"/>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F7B50-1480-A112-A05A-247D403CEFED}"/>
              </a:ext>
            </a:extLst>
          </p:cNvPr>
          <p:cNvSpPr>
            <a:spLocks noGrp="1"/>
          </p:cNvSpPr>
          <p:nvPr>
            <p:ph type="ctrTitle"/>
          </p:nvPr>
        </p:nvSpPr>
        <p:spPr/>
        <p:txBody>
          <a:bodyPr/>
          <a:lstStyle/>
          <a:p>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3F2B8B6-B7A9-52EC-1D6A-A1BC35B31D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TextBox 4">
            <a:extLst>
              <a:ext uri="{FF2B5EF4-FFF2-40B4-BE49-F238E27FC236}">
                <a16:creationId xmlns:a16="http://schemas.microsoft.com/office/drawing/2014/main" id="{5143257E-F948-E60C-590F-26F3BF280B54}"/>
              </a:ext>
            </a:extLst>
          </p:cNvPr>
          <p:cNvSpPr txBox="1"/>
          <p:nvPr/>
        </p:nvSpPr>
        <p:spPr>
          <a:xfrm>
            <a:off x="162837" y="1181478"/>
            <a:ext cx="13891365" cy="4647426"/>
          </a:xfrm>
          <a:prstGeom prst="rect">
            <a:avLst/>
          </a:prstGeom>
          <a:noFill/>
        </p:spPr>
        <p:txBody>
          <a:bodyPr wrap="square" rtlCol="0">
            <a:spAutoFit/>
          </a:bodyPr>
          <a:lstStyle/>
          <a:p>
            <a:pPr algn="l">
              <a:buNone/>
            </a:pPr>
            <a:r>
              <a:rPr lang="en-US" sz="2800" b="1" i="0" dirty="0">
                <a:effectLst/>
                <a:latin typeface="Times New Roman" panose="02020603050405020304" pitchFamily="18" charset="0"/>
                <a:cs typeface="Times New Roman" panose="02020603050405020304" pitchFamily="18" charset="0"/>
              </a:rPr>
              <a:t>Dashboard and Analytics : </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Centralized dashboard displaying platform-wide statistics such as total users, active courses, enrollment numbers, and engagement metrics</a:t>
            </a:r>
          </a:p>
          <a:p>
            <a:pPr algn="l">
              <a:buNone/>
            </a:pPr>
            <a:r>
              <a:rPr lang="en-US" sz="2800" b="1" dirty="0">
                <a:latin typeface="Times New Roman" panose="02020603050405020304" pitchFamily="18" charset="0"/>
                <a:cs typeface="Times New Roman" panose="02020603050405020304" pitchFamily="18" charset="0"/>
              </a:rPr>
              <a:t>Course </a:t>
            </a:r>
            <a:r>
              <a:rPr lang="en-US" sz="2800" b="1" i="0" dirty="0">
                <a:effectLst/>
                <a:latin typeface="Times New Roman" panose="02020603050405020304" pitchFamily="18" charset="0"/>
                <a:cs typeface="Times New Roman" panose="02020603050405020304" pitchFamily="18" charset="0"/>
              </a:rPr>
              <a:t>Management : </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Full CRUD (Create, Read, Update, Delete) operations for user accounts, including adding, editing, or deleting students, instructors, and other admins.</a:t>
            </a:r>
          </a:p>
          <a:p>
            <a:pPr algn="l"/>
            <a:endParaRPr lang="en-US" sz="3200" b="0" i="0" dirty="0">
              <a:effectLst/>
              <a:latin typeface="Times New Roman" panose="02020603050405020304" pitchFamily="18" charset="0"/>
              <a:cs typeface="Times New Roman" panose="02020603050405020304" pitchFamily="18" charset="0"/>
            </a:endParaRPr>
          </a:p>
          <a:p>
            <a:endParaRPr lang="en-US" sz="3200" b="0" i="0" dirty="0">
              <a:effectLst/>
              <a:latin typeface="Times New Roman" panose="02020603050405020304" pitchFamily="18" charset="0"/>
              <a:cs typeface="Times New Roman" panose="02020603050405020304" pitchFamily="18" charset="0"/>
            </a:endParaRPr>
          </a:p>
          <a:p>
            <a:pPr marL="514350" indent="-514350">
              <a:buAutoNum type="arabicPeriod"/>
            </a:pPr>
            <a:endParaRPr lang="en-US"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pic>
        <p:nvPicPr>
          <p:cNvPr id="5122" name="Picture 2" descr="Nearly 50% university teachers still not comfortable with online teaching:  Survey | Education News - The Indian Express">
            <a:extLst>
              <a:ext uri="{FF2B5EF4-FFF2-40B4-BE49-F238E27FC236}">
                <a16:creationId xmlns:a16="http://schemas.microsoft.com/office/drawing/2014/main" id="{86736E18-E4F4-9C5E-13CA-4D877BF21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8244" y="3960812"/>
            <a:ext cx="6086459" cy="33813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FF29171-D88F-27F8-B0EE-17F3ECAC1B10}"/>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rcRect l="631" t="29155" r="2101" b="1290"/>
          <a:stretch>
            <a:fillRect/>
          </a:stretch>
        </p:blipFill>
        <p:spPr>
          <a:xfrm>
            <a:off x="0" y="968101"/>
            <a:ext cx="14538325" cy="6795877"/>
          </a:xfrm>
          <a:prstGeom prst="rect">
            <a:avLst/>
          </a:prstGeom>
        </p:spPr>
      </p:pic>
      <p:pic>
        <p:nvPicPr>
          <p:cNvPr id="7" name="Picture 6">
            <a:extLst>
              <a:ext uri="{FF2B5EF4-FFF2-40B4-BE49-F238E27FC236}">
                <a16:creationId xmlns:a16="http://schemas.microsoft.com/office/drawing/2014/main" id="{51A901B8-00C6-BA27-DC57-96851F7E5A32}"/>
              </a:ext>
            </a:extLst>
          </p:cNvPr>
          <p:cNvPicPr>
            <a:picLocks noChangeAspect="1"/>
          </p:cNvPicPr>
          <p:nvPr/>
        </p:nvPicPr>
        <p:blipFill>
          <a:blip r:embed="rId5"/>
          <a:stretch>
            <a:fillRect/>
          </a:stretch>
        </p:blipFill>
        <p:spPr>
          <a:xfrm>
            <a:off x="484124" y="1181431"/>
            <a:ext cx="6264602" cy="388586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A30B0EBA-990C-79D9-EB2F-C3CC0910932C}"/>
              </a:ext>
            </a:extLst>
          </p:cNvPr>
          <p:cNvPicPr>
            <a:picLocks noChangeAspect="1"/>
          </p:cNvPicPr>
          <p:nvPr/>
        </p:nvPicPr>
        <p:blipFill>
          <a:blip r:embed="rId6"/>
          <a:stretch>
            <a:fillRect/>
          </a:stretch>
        </p:blipFill>
        <p:spPr>
          <a:xfrm>
            <a:off x="6885890" y="4208657"/>
            <a:ext cx="7185333" cy="2953970"/>
          </a:xfrm>
          <a:prstGeom prst="rect">
            <a:avLst/>
          </a:prstGeom>
        </p:spPr>
      </p:pic>
    </p:spTree>
    <p:extLst>
      <p:ext uri="{BB962C8B-B14F-4D97-AF65-F5344CB8AC3E}">
        <p14:creationId xmlns:p14="http://schemas.microsoft.com/office/powerpoint/2010/main" val="2859673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ADED-8F3E-8638-3E66-A5B4709FB5EA}"/>
              </a:ext>
            </a:extLst>
          </p:cNvPr>
          <p:cNvSpPr>
            <a:spLocks noGrp="1"/>
          </p:cNvSpPr>
          <p:nvPr>
            <p:ph type="ctrTitle"/>
          </p:nvPr>
        </p:nvSpPr>
        <p:spPr/>
        <p:txBody>
          <a:bodyPr/>
          <a:lstStyle/>
          <a:p>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24D67F-27B5-635D-7C98-3439F1EB71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id="{1B3F6E78-3719-76F0-C749-C6F8C822AB88}"/>
              </a:ext>
            </a:extLst>
          </p:cNvPr>
          <p:cNvPicPr>
            <a:picLocks noChangeAspect="1"/>
          </p:cNvPicPr>
          <p:nvPr/>
        </p:nvPicPr>
        <p:blipFill>
          <a:blip r:embed="rId2"/>
          <a:srcRect r="31522"/>
          <a:stretch/>
        </p:blipFill>
        <p:spPr>
          <a:xfrm>
            <a:off x="2265312" y="1548114"/>
            <a:ext cx="2586088" cy="5897592"/>
          </a:xfrm>
          <a:prstGeom prst="rect">
            <a:avLst/>
          </a:prstGeom>
        </p:spPr>
      </p:pic>
      <p:pic>
        <p:nvPicPr>
          <p:cNvPr id="8" name="Picture 7">
            <a:extLst>
              <a:ext uri="{FF2B5EF4-FFF2-40B4-BE49-F238E27FC236}">
                <a16:creationId xmlns:a16="http://schemas.microsoft.com/office/drawing/2014/main" id="{360D9801-002D-985C-C26F-3447A076BA97}"/>
              </a:ext>
            </a:extLst>
          </p:cNvPr>
          <p:cNvPicPr>
            <a:picLocks noChangeAspect="1"/>
          </p:cNvPicPr>
          <p:nvPr/>
        </p:nvPicPr>
        <p:blipFill>
          <a:blip r:embed="rId3"/>
          <a:srcRect r="35069"/>
          <a:stretch/>
        </p:blipFill>
        <p:spPr>
          <a:xfrm>
            <a:off x="6809873" y="1645920"/>
            <a:ext cx="2877053" cy="5799786"/>
          </a:xfrm>
          <a:prstGeom prst="rect">
            <a:avLst/>
          </a:prstGeom>
        </p:spPr>
      </p:pic>
      <p:sp>
        <p:nvSpPr>
          <p:cNvPr id="10" name="TextBox 9">
            <a:extLst>
              <a:ext uri="{FF2B5EF4-FFF2-40B4-BE49-F238E27FC236}">
                <a16:creationId xmlns:a16="http://schemas.microsoft.com/office/drawing/2014/main" id="{3ECE9F3A-F234-240B-C9B0-2B45CF3B1C30}"/>
              </a:ext>
            </a:extLst>
          </p:cNvPr>
          <p:cNvSpPr txBox="1"/>
          <p:nvPr/>
        </p:nvSpPr>
        <p:spPr>
          <a:xfrm>
            <a:off x="1414914" y="1241660"/>
            <a:ext cx="1376413" cy="307777"/>
          </a:xfrm>
          <a:prstGeom prst="rect">
            <a:avLst/>
          </a:prstGeom>
          <a:noFill/>
        </p:spPr>
        <p:txBody>
          <a:bodyPr wrap="square" rtlCol="0">
            <a:spAutoFit/>
          </a:bodyPr>
          <a:lstStyle/>
          <a:p>
            <a:r>
              <a:rPr lang="en-US" dirty="0"/>
              <a:t>BACKEND</a:t>
            </a:r>
            <a:endParaRPr lang="en-IN" dirty="0"/>
          </a:p>
        </p:txBody>
      </p:sp>
      <p:sp>
        <p:nvSpPr>
          <p:cNvPr id="11" name="TextBox 10">
            <a:extLst>
              <a:ext uri="{FF2B5EF4-FFF2-40B4-BE49-F238E27FC236}">
                <a16:creationId xmlns:a16="http://schemas.microsoft.com/office/drawing/2014/main" id="{3DC7F8D5-E156-0CD4-0466-F5F9E4DD0842}"/>
              </a:ext>
            </a:extLst>
          </p:cNvPr>
          <p:cNvSpPr txBox="1"/>
          <p:nvPr/>
        </p:nvSpPr>
        <p:spPr>
          <a:xfrm>
            <a:off x="7724273" y="1241661"/>
            <a:ext cx="1236848" cy="307777"/>
          </a:xfrm>
          <a:prstGeom prst="rect">
            <a:avLst/>
          </a:prstGeom>
          <a:noFill/>
        </p:spPr>
        <p:txBody>
          <a:bodyPr wrap="square" rtlCol="0">
            <a:spAutoFit/>
          </a:bodyPr>
          <a:lstStyle/>
          <a:p>
            <a:r>
              <a:rPr lang="en-US" dirty="0"/>
              <a:t>FRONTEND</a:t>
            </a:r>
            <a:endParaRPr lang="en-IN" dirty="0"/>
          </a:p>
        </p:txBody>
      </p:sp>
      <p:pic>
        <p:nvPicPr>
          <p:cNvPr id="3" name="Picture 2">
            <a:extLst>
              <a:ext uri="{FF2B5EF4-FFF2-40B4-BE49-F238E27FC236}">
                <a16:creationId xmlns:a16="http://schemas.microsoft.com/office/drawing/2014/main" id="{76E720A0-B72C-F9C0-05B4-0FA5AE29A9E0}"/>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rcRect l="631" t="29155" r="2101" b="1290"/>
          <a:stretch>
            <a:fillRect/>
          </a:stretch>
        </p:blipFill>
        <p:spPr>
          <a:xfrm>
            <a:off x="0" y="968101"/>
            <a:ext cx="14538325" cy="6795877"/>
          </a:xfrm>
          <a:prstGeom prst="rect">
            <a:avLst/>
          </a:prstGeom>
        </p:spPr>
      </p:pic>
      <p:pic>
        <p:nvPicPr>
          <p:cNvPr id="5" name="Picture 4">
            <a:extLst>
              <a:ext uri="{FF2B5EF4-FFF2-40B4-BE49-F238E27FC236}">
                <a16:creationId xmlns:a16="http://schemas.microsoft.com/office/drawing/2014/main" id="{15C8499C-06A8-FF32-42C0-67B1EAA2F925}"/>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rcRect l="631" t="29155" r="2101" b="1290"/>
          <a:stretch>
            <a:fillRect/>
          </a:stretch>
        </p:blipFill>
        <p:spPr>
          <a:xfrm>
            <a:off x="152400" y="1120501"/>
            <a:ext cx="14538325" cy="6795877"/>
          </a:xfrm>
          <a:prstGeom prst="rect">
            <a:avLst/>
          </a:prstGeom>
        </p:spPr>
      </p:pic>
      <p:pic>
        <p:nvPicPr>
          <p:cNvPr id="9" name="Picture 8">
            <a:extLst>
              <a:ext uri="{FF2B5EF4-FFF2-40B4-BE49-F238E27FC236}">
                <a16:creationId xmlns:a16="http://schemas.microsoft.com/office/drawing/2014/main" id="{FAC2AA8B-9804-C98A-2C98-8D21915E5577}"/>
              </a:ext>
            </a:extLst>
          </p:cNvPr>
          <p:cNvPicPr>
            <a:picLocks noChangeAspect="1"/>
          </p:cNvPicPr>
          <p:nvPr/>
        </p:nvPicPr>
        <p:blipFill>
          <a:blip r:embed="rId6"/>
          <a:srcRect t="5605"/>
          <a:stretch>
            <a:fillRect/>
          </a:stretch>
        </p:blipFill>
        <p:spPr>
          <a:xfrm>
            <a:off x="2614705" y="1321007"/>
            <a:ext cx="8390336" cy="6203233"/>
          </a:xfrm>
          <a:prstGeom prst="rect">
            <a:avLst/>
          </a:prstGeom>
          <a:ln>
            <a:noFill/>
          </a:ln>
          <a:effectLst>
            <a:softEdge rad="112500"/>
          </a:effectLst>
        </p:spPr>
      </p:pic>
    </p:spTree>
    <p:extLst>
      <p:ext uri="{BB962C8B-B14F-4D97-AF65-F5344CB8AC3E}">
        <p14:creationId xmlns:p14="http://schemas.microsoft.com/office/powerpoint/2010/main" val="2307829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35D0-4F10-467A-7F6C-366B43098DE2}"/>
              </a:ext>
            </a:extLst>
          </p:cNvPr>
          <p:cNvSpPr>
            <a:spLocks noGrp="1"/>
          </p:cNvSpPr>
          <p:nvPr>
            <p:ph type="ctrTitle"/>
          </p:nvPr>
        </p:nvSpPr>
        <p:spPr>
          <a:xfrm>
            <a:off x="5" y="2"/>
            <a:ext cx="8623296" cy="968100"/>
          </a:xfrm>
        </p:spPr>
        <p:txBody>
          <a:bodyPr/>
          <a:lstStyle/>
          <a:p>
            <a:r>
              <a:rPr lang="en-US" sz="6600" b="1" dirty="0">
                <a:solidFill>
                  <a:schemeClr val="bg1"/>
                </a:solidFill>
                <a:latin typeface="Times New Roman" panose="02020603050405020304" pitchFamily="18" charset="0"/>
                <a:cs typeface="Times New Roman" panose="02020603050405020304" pitchFamily="18" charset="0"/>
              </a:rPr>
              <a:t>Future Scope </a:t>
            </a:r>
            <a:endParaRPr lang="en-IN" sz="66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8CA4993-2007-EB43-91C6-704BA20DF4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7" name="TextBox 6">
            <a:extLst>
              <a:ext uri="{FF2B5EF4-FFF2-40B4-BE49-F238E27FC236}">
                <a16:creationId xmlns:a16="http://schemas.microsoft.com/office/drawing/2014/main" id="{922C1653-6CF5-8599-DAA3-68526FB98575}"/>
              </a:ext>
            </a:extLst>
          </p:cNvPr>
          <p:cNvSpPr txBox="1"/>
          <p:nvPr/>
        </p:nvSpPr>
        <p:spPr>
          <a:xfrm>
            <a:off x="1114816" y="1177447"/>
            <a:ext cx="3845491"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   HOMEPAGE </a:t>
            </a:r>
            <a:endParaRPr lang="en-IN" sz="1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3D13EBC-BFDD-BA63-944F-6461B68BDB0D}"/>
              </a:ext>
            </a:extLst>
          </p:cNvPr>
          <p:cNvPicPr>
            <a:picLocks noChangeAspect="1"/>
          </p:cNvPicPr>
          <p:nvPr/>
        </p:nvPicPr>
        <p:blipFill>
          <a:blip r:embed="rId2"/>
          <a:stretch>
            <a:fillRect/>
          </a:stretch>
        </p:blipFill>
        <p:spPr>
          <a:xfrm>
            <a:off x="1511092" y="1841267"/>
            <a:ext cx="11516139" cy="4902911"/>
          </a:xfrm>
          <a:prstGeom prst="rect">
            <a:avLst/>
          </a:prstGeom>
        </p:spPr>
      </p:pic>
      <p:pic>
        <p:nvPicPr>
          <p:cNvPr id="3" name="Picture 2">
            <a:extLst>
              <a:ext uri="{FF2B5EF4-FFF2-40B4-BE49-F238E27FC236}">
                <a16:creationId xmlns:a16="http://schemas.microsoft.com/office/drawing/2014/main" id="{B337D85B-3961-67DE-D872-87AD24B9870E}"/>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rcRect l="631" t="29155" r="2101" b="1290"/>
          <a:stretch>
            <a:fillRect/>
          </a:stretch>
        </p:blipFill>
        <p:spPr>
          <a:xfrm>
            <a:off x="0" y="968101"/>
            <a:ext cx="14538325" cy="6795877"/>
          </a:xfrm>
          <a:prstGeom prst="rect">
            <a:avLst/>
          </a:prstGeom>
        </p:spPr>
      </p:pic>
      <p:sp>
        <p:nvSpPr>
          <p:cNvPr id="8" name="TextBox 7">
            <a:extLst>
              <a:ext uri="{FF2B5EF4-FFF2-40B4-BE49-F238E27FC236}">
                <a16:creationId xmlns:a16="http://schemas.microsoft.com/office/drawing/2014/main" id="{23083D99-ABC4-3DA0-6060-CF99E89DDD4B}"/>
              </a:ext>
            </a:extLst>
          </p:cNvPr>
          <p:cNvSpPr txBox="1"/>
          <p:nvPr/>
        </p:nvSpPr>
        <p:spPr>
          <a:xfrm>
            <a:off x="1114816" y="1516001"/>
            <a:ext cx="11912415" cy="550920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US" sz="3200" b="1" i="0" dirty="0">
                <a:solidFill>
                  <a:srgbClr val="002060"/>
                </a:solidFill>
                <a:effectLst/>
                <a:latin typeface="Times New Roman" panose="02020603050405020304" pitchFamily="18" charset="0"/>
                <a:cs typeface="Times New Roman" panose="02020603050405020304" pitchFamily="18" charset="0"/>
              </a:rPr>
              <a:t>Implementing Advanced Data Analytics and AI/ML</a:t>
            </a:r>
            <a:r>
              <a:rPr lang="en-US" sz="3200" b="0" i="0" dirty="0">
                <a:solidFill>
                  <a:srgbClr val="002060"/>
                </a:solidFill>
                <a:effectLst/>
                <a:latin typeface="Times New Roman" panose="02020603050405020304" pitchFamily="18" charset="0"/>
                <a:cs typeface="Times New Roman" panose="02020603050405020304" pitchFamily="18" charset="0"/>
              </a:rPr>
              <a:t>: The next step is integrating artificial intelligence and machine learning models to </a:t>
            </a:r>
            <a:r>
              <a:rPr lang="en-US" sz="3200" b="0" i="0" dirty="0" err="1">
                <a:solidFill>
                  <a:srgbClr val="002060"/>
                </a:solidFill>
                <a:effectLst/>
                <a:latin typeface="Times New Roman" panose="02020603050405020304" pitchFamily="18" charset="0"/>
                <a:cs typeface="Times New Roman" panose="02020603050405020304" pitchFamily="18" charset="0"/>
              </a:rPr>
              <a:t>analyse</a:t>
            </a:r>
            <a:r>
              <a:rPr lang="en-US" sz="3200" b="0" i="0" dirty="0">
                <a:solidFill>
                  <a:srgbClr val="002060"/>
                </a:solidFill>
                <a:effectLst/>
                <a:latin typeface="Times New Roman" panose="02020603050405020304" pitchFamily="18" charset="0"/>
                <a:cs typeface="Times New Roman" panose="02020603050405020304" pitchFamily="18" charset="0"/>
              </a:rPr>
              <a:t> vast amounts of data.</a:t>
            </a:r>
          </a:p>
          <a:p>
            <a:pPr algn="just"/>
            <a:r>
              <a:rPr lang="en-US" sz="3200" b="1" dirty="0">
                <a:solidFill>
                  <a:srgbClr val="002060"/>
                </a:solidFill>
                <a:latin typeface="Times New Roman" panose="02020603050405020304" pitchFamily="18" charset="0"/>
                <a:cs typeface="Times New Roman" panose="02020603050405020304" pitchFamily="18" charset="0"/>
              </a:rPr>
              <a:t>Migrating to Cloud-Native Architecture</a:t>
            </a:r>
            <a:r>
              <a:rPr lang="en-US" sz="3200" dirty="0">
                <a:solidFill>
                  <a:srgbClr val="002060"/>
                </a:solidFill>
                <a:latin typeface="Times New Roman" panose="02020603050405020304" pitchFamily="18" charset="0"/>
                <a:cs typeface="Times New Roman" panose="02020603050405020304" pitchFamily="18" charset="0"/>
              </a:rPr>
              <a:t>: The system will move from traditional, monolithic architectures to scalable, cloud-native microservices platforms (e.g., using AWS, Azure, Google Cloud).</a:t>
            </a:r>
          </a:p>
          <a:p>
            <a:pPr algn="just"/>
            <a:r>
              <a:rPr lang="en-US" sz="3200" b="1" dirty="0">
                <a:solidFill>
                  <a:srgbClr val="002060"/>
                </a:solidFill>
                <a:latin typeface="Times New Roman" panose="02020603050405020304" pitchFamily="18" charset="0"/>
                <a:cs typeface="Times New Roman" panose="02020603050405020304" pitchFamily="18" charset="0"/>
              </a:rPr>
              <a:t>Enhancing Customer Experience with Modern Interfaces</a:t>
            </a:r>
            <a:r>
              <a:rPr lang="en-US" sz="3200" dirty="0">
                <a:solidFill>
                  <a:srgbClr val="002060"/>
                </a:solidFill>
                <a:latin typeface="Times New Roman" panose="02020603050405020304" pitchFamily="18" charset="0"/>
                <a:cs typeface="Times New Roman" panose="02020603050405020304" pitchFamily="18" charset="0"/>
              </a:rPr>
              <a:t>: This involves leveraging modern front-end frameworks (like React or Angular) to build intuitive mobile apps and websites, and incorporating AI-powered chatbots and voice assistants for instant customer support and booking assistance.</a:t>
            </a:r>
          </a:p>
        </p:txBody>
      </p:sp>
    </p:spTree>
    <p:extLst>
      <p:ext uri="{BB962C8B-B14F-4D97-AF65-F5344CB8AC3E}">
        <p14:creationId xmlns:p14="http://schemas.microsoft.com/office/powerpoint/2010/main" val="4192656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3233-5DEA-3ED0-D730-036463FECA0C}"/>
              </a:ext>
            </a:extLst>
          </p:cNvPr>
          <p:cNvSpPr>
            <a:spLocks noGrp="1"/>
          </p:cNvSpPr>
          <p:nvPr>
            <p:ph type="ctrTitle"/>
          </p:nvPr>
        </p:nvSpPr>
        <p:spPr>
          <a:xfrm>
            <a:off x="5" y="1"/>
            <a:ext cx="8496296" cy="880179"/>
          </a:xfrm>
        </p:spPr>
        <p:txBody>
          <a:bodyPr/>
          <a:lstStyle/>
          <a:p>
            <a:r>
              <a:rPr lang="en-IN" sz="6600" b="1" dirty="0">
                <a:solidFill>
                  <a:schemeClr val="bg1"/>
                </a:solidFill>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F997790E-70F5-2C7A-BACF-E410F4EF79F6}"/>
              </a:ext>
            </a:extLst>
          </p:cNvPr>
          <p:cNvSpPr>
            <a:spLocks noGrp="1"/>
          </p:cNvSpPr>
          <p:nvPr>
            <p:ph type="subTitle" idx="1"/>
          </p:nvPr>
        </p:nvSpPr>
        <p:spPr/>
        <p:txBody>
          <a:bodyPr/>
          <a:lstStyle/>
          <a:p>
            <a:endParaRPr lang="en-IN" dirty="0"/>
          </a:p>
        </p:txBody>
      </p:sp>
      <p:sp>
        <p:nvSpPr>
          <p:cNvPr id="4" name="Slide Number Placeholder 3">
            <a:extLst>
              <a:ext uri="{FF2B5EF4-FFF2-40B4-BE49-F238E27FC236}">
                <a16:creationId xmlns:a16="http://schemas.microsoft.com/office/drawing/2014/main" id="{18F7437A-5A68-1809-EA82-F0E4566B32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7" name="TextBox 6">
            <a:extLst>
              <a:ext uri="{FF2B5EF4-FFF2-40B4-BE49-F238E27FC236}">
                <a16:creationId xmlns:a16="http://schemas.microsoft.com/office/drawing/2014/main" id="{FE509F5D-065D-CB24-7DD1-358B12AD06CB}"/>
              </a:ext>
            </a:extLst>
          </p:cNvPr>
          <p:cNvSpPr txBox="1"/>
          <p:nvPr/>
        </p:nvSpPr>
        <p:spPr>
          <a:xfrm>
            <a:off x="1537252" y="1056218"/>
            <a:ext cx="2981739" cy="307777"/>
          </a:xfrm>
          <a:prstGeom prst="rect">
            <a:avLst/>
          </a:prstGeom>
          <a:noFill/>
        </p:spPr>
        <p:txBody>
          <a:bodyPr wrap="square" rtlCol="0">
            <a:spAutoFit/>
          </a:bodyPr>
          <a:lstStyle/>
          <a:p>
            <a:r>
              <a:rPr lang="en-IN" b="1" dirty="0"/>
              <a:t>ABOUT PAGE </a:t>
            </a:r>
            <a:r>
              <a:rPr lang="en-IN" dirty="0"/>
              <a:t>: </a:t>
            </a:r>
          </a:p>
        </p:txBody>
      </p:sp>
      <p:pic>
        <p:nvPicPr>
          <p:cNvPr id="8" name="Picture 7">
            <a:extLst>
              <a:ext uri="{FF2B5EF4-FFF2-40B4-BE49-F238E27FC236}">
                <a16:creationId xmlns:a16="http://schemas.microsoft.com/office/drawing/2014/main" id="{A9AA474C-C59C-9865-A201-84DB55538C41}"/>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631" t="29155" r="2101" b="1290"/>
          <a:stretch>
            <a:fillRect/>
          </a:stretch>
        </p:blipFill>
        <p:spPr>
          <a:xfrm>
            <a:off x="-1" y="978224"/>
            <a:ext cx="14538325" cy="6810759"/>
          </a:xfrm>
          <a:prstGeom prst="rect">
            <a:avLst/>
          </a:prstGeom>
        </p:spPr>
      </p:pic>
      <p:sp>
        <p:nvSpPr>
          <p:cNvPr id="11" name="TextBox 10">
            <a:extLst>
              <a:ext uri="{FF2B5EF4-FFF2-40B4-BE49-F238E27FC236}">
                <a16:creationId xmlns:a16="http://schemas.microsoft.com/office/drawing/2014/main" id="{8D26FF12-B022-9CF7-DF55-F5728DE094D1}"/>
              </a:ext>
            </a:extLst>
          </p:cNvPr>
          <p:cNvSpPr txBox="1"/>
          <p:nvPr/>
        </p:nvSpPr>
        <p:spPr>
          <a:xfrm>
            <a:off x="726917" y="1363995"/>
            <a:ext cx="12366783" cy="569386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en-IN" sz="2800" dirty="0">
                <a:solidFill>
                  <a:srgbClr val="002060"/>
                </a:solidFill>
                <a:latin typeface="Times New Roman" panose="02020603050405020304" pitchFamily="18" charset="0"/>
                <a:cs typeface="Times New Roman" panose="02020603050405020304" pitchFamily="18" charset="0"/>
              </a:rPr>
              <a:t>The conclusion of a Java console-based airline reservation project is the successful creation of a functional, text-based reservation system that effectively applies fundamental programming concepts to simulate real-world operations. </a:t>
            </a:r>
          </a:p>
          <a:p>
            <a:pPr algn="just"/>
            <a:r>
              <a:rPr lang="en-IN" sz="2800" dirty="0">
                <a:solidFill>
                  <a:srgbClr val="002060"/>
                </a:solidFill>
                <a:latin typeface="Times New Roman" panose="02020603050405020304" pitchFamily="18" charset="0"/>
                <a:cs typeface="Times New Roman" panose="02020603050405020304" pitchFamily="18" charset="0"/>
              </a:rPr>
              <a:t>Fundamentally, it serves as a robust demonstration of core object-oriented programming (OOP) principles, utilising classes like Flight, Passenger, and Booking, along with encapsulation and inheritance to create a structured and maintainable codebase. </a:t>
            </a:r>
          </a:p>
          <a:p>
            <a:pPr algn="just"/>
            <a:endParaRPr lang="en-IN" sz="2800" dirty="0">
              <a:solidFill>
                <a:srgbClr val="002060"/>
              </a:solidFill>
              <a:latin typeface="Times New Roman" panose="02020603050405020304" pitchFamily="18" charset="0"/>
              <a:cs typeface="Times New Roman" panose="02020603050405020304" pitchFamily="18" charset="0"/>
            </a:endParaRPr>
          </a:p>
          <a:p>
            <a:pPr algn="just"/>
            <a:r>
              <a:rPr lang="en-IN" sz="2800" dirty="0">
                <a:solidFill>
                  <a:srgbClr val="002060"/>
                </a:solidFill>
                <a:latin typeface="Times New Roman" panose="02020603050405020304" pitchFamily="18" charset="0"/>
                <a:cs typeface="Times New Roman" panose="02020603050405020304" pitchFamily="18" charset="0"/>
              </a:rPr>
              <a:t>Ultimately, the primary conclusion is the successful acquisition and application of core Java skills—such as loops, conditionals, file handling, and user input processing—providing a solid foundational stepping stone for developers to tackle future, more sophisticated projects involving databases, graphical user interfaces, or web-based technologies.</a:t>
            </a:r>
          </a:p>
        </p:txBody>
      </p:sp>
    </p:spTree>
    <p:extLst>
      <p:ext uri="{BB962C8B-B14F-4D97-AF65-F5344CB8AC3E}">
        <p14:creationId xmlns:p14="http://schemas.microsoft.com/office/powerpoint/2010/main" val="795813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F0D4B-2B2A-8F6C-89CE-1E6E9866C4EF}"/>
              </a:ext>
            </a:extLst>
          </p:cNvPr>
          <p:cNvSpPr>
            <a:spLocks noGrp="1"/>
          </p:cNvSpPr>
          <p:nvPr>
            <p:ph type="ctrTitle"/>
          </p:nvPr>
        </p:nvSpPr>
        <p:spPr>
          <a:xfrm>
            <a:off x="5" y="1"/>
            <a:ext cx="8369296" cy="876299"/>
          </a:xfrm>
        </p:spPr>
        <p:txBody>
          <a:bodyPr/>
          <a:lstStyle/>
          <a:p>
            <a:r>
              <a:rPr lang="en-IN" sz="6600" b="1" dirty="0">
                <a:solidFill>
                  <a:schemeClr val="bg1"/>
                </a:solidFill>
                <a:latin typeface="Times New Roman" panose="02020603050405020304" pitchFamily="18" charset="0"/>
                <a:cs typeface="Times New Roman" panose="02020603050405020304" pitchFamily="18" charset="0"/>
              </a:rPr>
              <a:t>References</a:t>
            </a:r>
          </a:p>
        </p:txBody>
      </p:sp>
      <p:sp>
        <p:nvSpPr>
          <p:cNvPr id="4" name="Slide Number Placeholder 3">
            <a:extLst>
              <a:ext uri="{FF2B5EF4-FFF2-40B4-BE49-F238E27FC236}">
                <a16:creationId xmlns:a16="http://schemas.microsoft.com/office/drawing/2014/main" id="{BACC8D83-941B-1ECE-E3AD-BF66023A8E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9" name="Picture 8">
            <a:extLst>
              <a:ext uri="{FF2B5EF4-FFF2-40B4-BE49-F238E27FC236}">
                <a16:creationId xmlns:a16="http://schemas.microsoft.com/office/drawing/2014/main" id="{C401FB21-F6D1-2900-BFB9-954503B03868}"/>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631" t="29155" r="2101" b="1290"/>
          <a:stretch>
            <a:fillRect/>
          </a:stretch>
        </p:blipFill>
        <p:spPr>
          <a:xfrm>
            <a:off x="-36041" y="921861"/>
            <a:ext cx="14574366" cy="6842070"/>
          </a:xfrm>
          <a:prstGeom prst="rect">
            <a:avLst/>
          </a:prstGeom>
        </p:spPr>
      </p:pic>
      <p:sp>
        <p:nvSpPr>
          <p:cNvPr id="11" name="TextBox 10">
            <a:extLst>
              <a:ext uri="{FF2B5EF4-FFF2-40B4-BE49-F238E27FC236}">
                <a16:creationId xmlns:a16="http://schemas.microsoft.com/office/drawing/2014/main" id="{9F6A3B08-AD7A-F9F0-01A8-67733F56056F}"/>
              </a:ext>
            </a:extLst>
          </p:cNvPr>
          <p:cNvSpPr txBox="1"/>
          <p:nvPr/>
        </p:nvSpPr>
        <p:spPr>
          <a:xfrm>
            <a:off x="1320800" y="1803400"/>
            <a:ext cx="11849100" cy="461664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457200" indent="-457200">
              <a:buFont typeface="Wingdings" panose="05000000000000000000" pitchFamily="2" charset="2"/>
              <a:buChar char="q"/>
            </a:pPr>
            <a:r>
              <a:rPr lang="en-IN" sz="2800" b="1" i="1" u="sng" dirty="0">
                <a:solidFill>
                  <a:srgbClr val="00206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YouTube</a:t>
            </a:r>
            <a:r>
              <a:rPr lang="en-IN" sz="2800" dirty="0">
                <a:solidFill>
                  <a:srgbClr val="0000FF"/>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https://youtu.be/AHFBPxWebFQ?si=1gpemxiVbB22aXkv</a:t>
            </a: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b="1" i="1" dirty="0">
                <a:solidFill>
                  <a:srgbClr val="00206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JetBrains:</a:t>
            </a:r>
            <a:r>
              <a:rPr lang="en-IN" sz="2800" dirty="0">
                <a:solidFill>
                  <a:srgbClr val="00206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 </a:t>
            </a:r>
            <a:r>
              <a:rPr lang="en-IN" sz="2800"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https://www.jetbrains.com/idea-edu/</a:t>
            </a: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b="1" i="1" dirty="0">
                <a:solidFill>
                  <a:srgbClr val="00206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Tutorials Point:  </a:t>
            </a:r>
            <a:r>
              <a:rPr lang="en-IN" sz="2800" dirty="0">
                <a:latin typeface="Times New Roman" panose="02020603050405020304" pitchFamily="18" charset="0"/>
                <a:cs typeface="Times New Roman" panose="02020603050405020304" pitchFamily="18" charset="0"/>
                <a:hlinkClick r:id="rId6"/>
              </a:rPr>
              <a:t>https://www.tutorialspoint.com/intellij_idea/intellij_idea_create_first_java_project.htm</a:t>
            </a: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b="1" i="1" dirty="0">
                <a:solidFill>
                  <a:srgbClr val="00206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OneClick</a:t>
            </a:r>
            <a:r>
              <a:rPr lang="en-IN" sz="2800" b="1" i="1" dirty="0">
                <a:solidFill>
                  <a:srgbClr val="0000FF"/>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 </a:t>
            </a:r>
            <a:r>
              <a:rPr lang="en-IN" sz="2800" dirty="0">
                <a:solidFill>
                  <a:srgbClr val="0000FF"/>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https://www.oneclickitsolution.com/blog/airline-reservation-system</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0655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99294E-AFAF-A9BF-3010-3FADAB3202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2" name="TextBox 1">
            <a:extLst>
              <a:ext uri="{FF2B5EF4-FFF2-40B4-BE49-F238E27FC236}">
                <a16:creationId xmlns:a16="http://schemas.microsoft.com/office/drawing/2014/main" id="{9D82CDC8-1AF0-CE39-A29D-ED0EF65B05EF}"/>
              </a:ext>
            </a:extLst>
          </p:cNvPr>
          <p:cNvSpPr txBox="1"/>
          <p:nvPr/>
        </p:nvSpPr>
        <p:spPr>
          <a:xfrm>
            <a:off x="3619500" y="2755900"/>
            <a:ext cx="6799633" cy="1323439"/>
          </a:xfrm>
          <a:prstGeom prst="rect">
            <a:avLst/>
          </a:prstGeom>
          <a:noFill/>
        </p:spPr>
        <p:txBody>
          <a:bodyPr wrap="square" rtlCol="0">
            <a:spAutoFit/>
          </a:bodyPr>
          <a:lstStyle/>
          <a:p>
            <a:r>
              <a:rPr lang="en-IN" sz="8000" b="1" dirty="0">
                <a:solidFill>
                  <a:schemeClr val="accent1">
                    <a:lumMod val="5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0344534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1352</TotalTime>
  <Words>1603</Words>
  <Application>Microsoft Office PowerPoint</Application>
  <PresentationFormat>Custom</PresentationFormat>
  <Paragraphs>167</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Libre Baskerville</vt:lpstr>
      <vt:lpstr>Times New Roman</vt:lpstr>
      <vt:lpstr>Calibri</vt:lpstr>
      <vt:lpstr>Arial</vt:lpstr>
      <vt:lpstr>Overpass Light</vt:lpstr>
      <vt:lpstr>Wingdings</vt:lpstr>
      <vt:lpstr>Office Theme</vt:lpstr>
      <vt:lpstr>PowerPoint Presentation</vt:lpstr>
      <vt:lpstr>Introduction</vt:lpstr>
      <vt:lpstr>Project Overview</vt:lpstr>
      <vt:lpstr>      Problem Statement </vt:lpstr>
      <vt:lpstr>  Core Technologies </vt:lpstr>
      <vt:lpstr>Key Features </vt:lpstr>
      <vt:lpstr>Database Schema  </vt:lpstr>
      <vt:lpstr>Project Screenshots</vt:lpstr>
      <vt:lpstr>PowerPoint Presentation</vt:lpstr>
      <vt:lpstr>PowerPoint Presentation</vt:lpstr>
      <vt:lpstr>Future Scope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Yashika Taneja</cp:lastModifiedBy>
  <cp:revision>23</cp:revision>
  <dcterms:created xsi:type="dcterms:W3CDTF">2010-04-09T07:36:15Z</dcterms:created>
  <dcterms:modified xsi:type="dcterms:W3CDTF">2025-11-25T04:24:02Z</dcterms:modified>
</cp:coreProperties>
</file>